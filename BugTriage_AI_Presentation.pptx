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Speaker Notes:</a:t>
            </a:r>
          </a:p>
          <a:p>
            <a:r>
              <a:t>Good morning/afternoon respected evaluators. Welcome to our presentation of BugTriage.ai, created under track GENAI-23.</a:t>
            </a:r>
          </a:p>
          <a:p>
            <a:r>
              <a:t>Our team consists of Kishore Kumar, Ashraf, and Kulsum. Together, we built an autonomous, end-to-end multi-agent platform designed to fundamentally eliminate the massive manual bottleneck in software bug triage.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Speaker Notes:</a:t>
            </a:r>
          </a:p>
          <a:p>
            <a:r>
              <a:t>Let's look at the problem. In modern software organizations, bug triage is a massive hidden productivity sink. Over 30% of sprint capacity is spent deciphering poorly written tickets, chasing reporters for missing details, and manually testing whether an issue is reproducible. Furthermore, up to 30% of incoming tickets are duplicates with completely different wording—such as 'infinite spinner on Google sign in' vs 'OAuth modal hangs'. This blows up Mean Time to Resolution and burns out engineering talent.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Speaker Notes:</a:t>
            </a:r>
          </a:p>
          <a:p>
            <a:r>
              <a:t>Here is our solution: BugTriage.ai. Instead of a single LLM prompt, we architected 4 specialized agents working in a strictly orchestrated pipeline.</a:t>
            </a:r>
          </a:p>
          <a:p>
            <a:r>
              <a:t>Agent 1 standardizes raw input and asks the reporter clarification questions if details are missing.</a:t>
            </a:r>
          </a:p>
          <a:p>
            <a:r>
              <a:t>Agent 2 performs vector similarity search in ChromaDB to catch duplicates and assign components.</a:t>
            </a:r>
          </a:p>
          <a:p>
            <a:r>
              <a:t>Agent 3 synthesizes and runs a live Selenium browser test to capture actual visual proof.</a:t>
            </a:r>
          </a:p>
          <a:p>
            <a:r>
              <a:t>Agent 4 detects regressions, identifies the owning developer, and compiles an executive triage report.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Speaker Notes:</a:t>
            </a:r>
          </a:p>
          <a:p>
            <a:r>
              <a:t>Turning to technical architecture and uniqueness: what makes BugTriage.ai truly stand out is that we do NOT build another simple LLM wrapper. We combine deterministic vector cosine similarity in ChromaDB with live browser execution via Selenium 4. Our backend is built on asynchronous FastAPI with Server-Sent Events streaming directly to Next.js 14. Most importantly, BugTriage.ai actually synthesizes executable Python code and runs headless tests to provide indisputable DOM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Speaker Notes:</a:t>
            </a:r>
          </a:p>
          <a:p>
            <a:r>
              <a:t>Regarding real-world feasibility: BugTriage.ai is completely containerized with Docker and ready for enterprise cloud deployment on Kubernetes or AWS ECS. Because we leverage local vector embeddings and high-speed Groq LPU inference, running a full triage costs less than a fraction of a cent ($0.002). The ROI is tremendous: an 85% reduction in triage time, 90%+ duplicate identification, and over $50,000 saved per engineering squad annually.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Speaker Notes:</a:t>
            </a:r>
          </a:p>
          <a:p>
            <a:r>
              <a:t>And now, we transition directly to our live working prototype!</a:t>
            </a:r>
          </a:p>
          <a:p>
            <a:r>
              <a:t>On localhost:3000/demo, we have 4 one-click showcase scenarios wired to our live FastAPI backend. Watch as we trigger Scenario 1 to demonstrate the interactive clarification loop, and Scenario 4 to witness all 4 agents stream real-time telemetry via Server-Sent Events, execute headless reproduction, and compile the final developer triage report in under 45 seconds.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48640"/>
            <a:ext cx="10728655" cy="54864"/>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728655" cy="2011680"/>
          </a:xfrm>
          <a:prstGeom prst="rect">
            <a:avLst/>
          </a:prstGeom>
          <a:noFill/>
        </p:spPr>
        <p:txBody>
          <a:bodyPr wrap="square" lIns="0" tIns="0" rIns="0" bIns="0">
            <a:spAutoFit/>
          </a:bodyPr>
          <a:lstStyle/>
          <a:p>
            <a:r>
              <a:rPr sz="1200" b="1">
                <a:solidFill>
                  <a:srgbClr val="06B6D4"/>
                </a:solidFill>
                <a:latin typeface="Segoe UI"/>
              </a:rPr>
              <a:t>GENAI-23 • AUTONOMOUS SOFTWARE ENGINEERING</a:t>
            </a:r>
          </a:p>
          <a:p>
            <a:pPr>
              <a:spcBef>
                <a:spcPts val="800"/>
              </a:spcBef>
            </a:pPr>
            <a:r>
              <a:rPr sz="4400" b="1">
                <a:solidFill>
                  <a:srgbClr val="FFFFFF"/>
                </a:solidFill>
                <a:latin typeface="Segoe UI"/>
              </a:rPr>
              <a:t>BugTriage.ai</a:t>
            </a:r>
          </a:p>
          <a:p>
            <a:pPr>
              <a:spcBef>
                <a:spcPts val="600"/>
              </a:spcBef>
            </a:pPr>
            <a:r>
              <a:rPr sz="1600">
                <a:solidFill>
                  <a:srgbClr val="9CA3AF"/>
                </a:solidFill>
                <a:latin typeface="Segoe UI"/>
              </a:rPr>
              <a:t>Autonomous Multi-Agent Software Bug Triage, Semantic Deduplication &amp; Headless Verification Platform</a:t>
            </a:r>
          </a:p>
        </p:txBody>
      </p:sp>
      <p:sp>
        <p:nvSpPr>
          <p:cNvPr id="5" name="Rounded Rectangle 4"/>
          <p:cNvSpPr/>
          <p:nvPr/>
        </p:nvSpPr>
        <p:spPr>
          <a:xfrm>
            <a:off x="731520" y="3017520"/>
            <a:ext cx="10728655" cy="457200"/>
          </a:xfrm>
          <a:prstGeom prst="roundRect">
            <a:avLst/>
          </a:prstGeom>
          <a:solidFill>
            <a:srgbClr val="1A233C"/>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200" b="1">
                <a:solidFill>
                  <a:srgbClr val="FFFFFF"/>
                </a:solidFill>
                <a:latin typeface="Segoe UI"/>
              </a:rPr>
              <a:t>PROJECT TEAM MEMBERS &amp; ROLES</a:t>
            </a:r>
          </a:p>
        </p:txBody>
      </p:sp>
      <p:sp>
        <p:nvSpPr>
          <p:cNvPr id="6" name="Rounded Rectangle 5"/>
          <p:cNvSpPr/>
          <p:nvPr/>
        </p:nvSpPr>
        <p:spPr>
          <a:xfrm>
            <a:off x="731520" y="3611880"/>
            <a:ext cx="3401568" cy="2651760"/>
          </a:xfrm>
          <a:prstGeom prst="roundRect">
            <a:avLst/>
          </a:prstGeom>
          <a:solidFill>
            <a:srgbClr val="141B2D"/>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840480"/>
            <a:ext cx="2944368" cy="2286000"/>
          </a:xfrm>
          <a:prstGeom prst="rect">
            <a:avLst/>
          </a:prstGeom>
          <a:noFill/>
        </p:spPr>
        <p:txBody>
          <a:bodyPr wrap="square" lIns="0" tIns="0" rIns="0" bIns="0">
            <a:spAutoFit/>
          </a:bodyPr>
          <a:lstStyle/>
          <a:p>
            <a:r>
              <a:rPr sz="1000" b="1">
                <a:solidFill>
                  <a:srgbClr val="3B82F6"/>
                </a:solidFill>
                <a:latin typeface="Segoe UI"/>
              </a:rPr>
              <a:t>TEAM MEMBER 01</a:t>
            </a:r>
          </a:p>
          <a:p>
            <a:pPr>
              <a:spcBef>
                <a:spcPts val="600"/>
              </a:spcBef>
            </a:pPr>
            <a:r>
              <a:rPr sz="2000" b="1">
                <a:solidFill>
                  <a:srgbClr val="FFFFFF"/>
                </a:solidFill>
                <a:latin typeface="Segoe UI"/>
              </a:rPr>
              <a:t>Kishore Kumar</a:t>
            </a:r>
          </a:p>
          <a:p>
            <a:pPr>
              <a:spcBef>
                <a:spcPts val="300"/>
              </a:spcBef>
            </a:pPr>
            <a:r>
              <a:rPr sz="1200" b="1">
                <a:solidFill>
                  <a:srgbClr val="3B82F6"/>
                </a:solidFill>
                <a:latin typeface="Segoe UI"/>
              </a:rPr>
              <a:t>Lead AI &amp; Backend Architect</a:t>
            </a:r>
          </a:p>
          <a:p>
            <a:pPr>
              <a:spcBef>
                <a:spcPts val="600"/>
              </a:spcBef>
            </a:pPr>
            <a:r>
              <a:rPr sz="800">
                <a:solidFill>
                  <a:srgbClr val="6B7280"/>
                </a:solidFill>
              </a:rPr>
              <a:t>──────────────────────────</a:t>
            </a:r>
          </a:p>
          <a:p>
            <a:pPr>
              <a:spcBef>
                <a:spcPts val="600"/>
              </a:spcBef>
            </a:pPr>
            <a:r>
              <a:rPr sz="1100" b="1">
                <a:solidFill>
                  <a:srgbClr val="9CA3AF"/>
                </a:solidFill>
                <a:latin typeface="Segoe UI"/>
              </a:rPr>
              <a:t>Core Responsibilities:</a:t>
            </a:r>
          </a:p>
          <a:p>
            <a:pPr>
              <a:spcBef>
                <a:spcPts val="400"/>
              </a:spcBef>
            </a:pPr>
            <a:r>
              <a:rPr sz="1100">
                <a:solidFill>
                  <a:srgbClr val="FFFFFF"/>
                </a:solidFill>
                <a:latin typeface="Segoe UI"/>
              </a:rPr>
              <a:t>• Multi-Agent Orchestration Pipeline</a:t>
            </a:r>
          </a:p>
          <a:p>
            <a:pPr>
              <a:spcBef>
                <a:spcPts val="400"/>
              </a:spcBef>
            </a:pPr>
            <a:r>
              <a:rPr sz="1100">
                <a:solidFill>
                  <a:srgbClr val="FFFFFF"/>
                </a:solidFill>
                <a:latin typeface="Segoe UI"/>
              </a:rPr>
              <a:t>• ChromaDB Vector Store &amp; Embeddings</a:t>
            </a:r>
          </a:p>
          <a:p>
            <a:pPr>
              <a:spcBef>
                <a:spcPts val="400"/>
              </a:spcBef>
            </a:pPr>
            <a:r>
              <a:rPr sz="1100">
                <a:solidFill>
                  <a:srgbClr val="FFFFFF"/>
                </a:solidFill>
                <a:latin typeface="Segoe UI"/>
              </a:rPr>
              <a:t>• Strict Pydantic Schema Contracts</a:t>
            </a:r>
          </a:p>
        </p:txBody>
      </p:sp>
      <p:sp>
        <p:nvSpPr>
          <p:cNvPr id="8" name="Rounded Rectangle 7"/>
          <p:cNvSpPr/>
          <p:nvPr/>
        </p:nvSpPr>
        <p:spPr>
          <a:xfrm>
            <a:off x="4389120" y="3611880"/>
            <a:ext cx="3401568" cy="2651760"/>
          </a:xfrm>
          <a:prstGeom prst="roundRect">
            <a:avLst/>
          </a:prstGeom>
          <a:solidFill>
            <a:srgbClr val="141B2D"/>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3840480"/>
            <a:ext cx="2944368" cy="2286000"/>
          </a:xfrm>
          <a:prstGeom prst="rect">
            <a:avLst/>
          </a:prstGeom>
          <a:noFill/>
        </p:spPr>
        <p:txBody>
          <a:bodyPr wrap="square" lIns="0" tIns="0" rIns="0" bIns="0">
            <a:spAutoFit/>
          </a:bodyPr>
          <a:lstStyle/>
          <a:p>
            <a:r>
              <a:rPr sz="1000" b="1">
                <a:solidFill>
                  <a:srgbClr val="06B6D4"/>
                </a:solidFill>
                <a:latin typeface="Segoe UI"/>
              </a:rPr>
              <a:t>TEAM MEMBER 02</a:t>
            </a:r>
          </a:p>
          <a:p>
            <a:pPr>
              <a:spcBef>
                <a:spcPts val="600"/>
              </a:spcBef>
            </a:pPr>
            <a:r>
              <a:rPr sz="2000" b="1">
                <a:solidFill>
                  <a:srgbClr val="FFFFFF"/>
                </a:solidFill>
                <a:latin typeface="Segoe UI"/>
              </a:rPr>
              <a:t>Ashraf</a:t>
            </a:r>
          </a:p>
          <a:p>
            <a:pPr>
              <a:spcBef>
                <a:spcPts val="300"/>
              </a:spcBef>
            </a:pPr>
            <a:r>
              <a:rPr sz="1200" b="1">
                <a:solidFill>
                  <a:srgbClr val="06B6D4"/>
                </a:solidFill>
                <a:latin typeface="Segoe UI"/>
              </a:rPr>
              <a:t>Systems &amp; Automation Engineer</a:t>
            </a:r>
          </a:p>
          <a:p>
            <a:pPr>
              <a:spcBef>
                <a:spcPts val="600"/>
              </a:spcBef>
            </a:pPr>
            <a:r>
              <a:rPr sz="800">
                <a:solidFill>
                  <a:srgbClr val="6B7280"/>
                </a:solidFill>
              </a:rPr>
              <a:t>──────────────────────────</a:t>
            </a:r>
          </a:p>
          <a:p>
            <a:pPr>
              <a:spcBef>
                <a:spcPts val="600"/>
              </a:spcBef>
            </a:pPr>
            <a:r>
              <a:rPr sz="1100" b="1">
                <a:solidFill>
                  <a:srgbClr val="9CA3AF"/>
                </a:solidFill>
                <a:latin typeface="Segoe UI"/>
              </a:rPr>
              <a:t>Core Responsibilities:</a:t>
            </a:r>
          </a:p>
          <a:p>
            <a:pPr>
              <a:spcBef>
                <a:spcPts val="400"/>
              </a:spcBef>
            </a:pPr>
            <a:r>
              <a:rPr sz="1100">
                <a:solidFill>
                  <a:srgbClr val="FFFFFF"/>
                </a:solidFill>
                <a:latin typeface="Segoe UI"/>
              </a:rPr>
              <a:t>• Headless Selenium 4 Execution Harness</a:t>
            </a:r>
          </a:p>
          <a:p>
            <a:pPr>
              <a:spcBef>
                <a:spcPts val="400"/>
              </a:spcBef>
            </a:pPr>
            <a:r>
              <a:rPr sz="1100">
                <a:solidFill>
                  <a:srgbClr val="FFFFFF"/>
                </a:solidFill>
                <a:latin typeface="Segoe UI"/>
              </a:rPr>
              <a:t>• FastAPI SSE Real-time Streaming</a:t>
            </a:r>
          </a:p>
          <a:p>
            <a:pPr>
              <a:spcBef>
                <a:spcPts val="400"/>
              </a:spcBef>
            </a:pPr>
            <a:r>
              <a:rPr sz="1100">
                <a:solidFill>
                  <a:srgbClr val="FFFFFF"/>
                </a:solidFill>
                <a:latin typeface="Segoe UI"/>
              </a:rPr>
              <a:t>• Docker Compose &amp; PostgreSQL DB</a:t>
            </a:r>
          </a:p>
        </p:txBody>
      </p:sp>
      <p:sp>
        <p:nvSpPr>
          <p:cNvPr id="10" name="Rounded Rectangle 9"/>
          <p:cNvSpPr/>
          <p:nvPr/>
        </p:nvSpPr>
        <p:spPr>
          <a:xfrm>
            <a:off x="8046720" y="3611880"/>
            <a:ext cx="3401568" cy="2651760"/>
          </a:xfrm>
          <a:prstGeom prst="roundRect">
            <a:avLst/>
          </a:prstGeom>
          <a:solidFill>
            <a:srgbClr val="141B2D"/>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3840480"/>
            <a:ext cx="2944368" cy="2286000"/>
          </a:xfrm>
          <a:prstGeom prst="rect">
            <a:avLst/>
          </a:prstGeom>
          <a:noFill/>
        </p:spPr>
        <p:txBody>
          <a:bodyPr wrap="square" lIns="0" tIns="0" rIns="0" bIns="0">
            <a:spAutoFit/>
          </a:bodyPr>
          <a:lstStyle/>
          <a:p>
            <a:r>
              <a:rPr sz="1000" b="1">
                <a:solidFill>
                  <a:srgbClr val="8B5CF6"/>
                </a:solidFill>
                <a:latin typeface="Segoe UI"/>
              </a:rPr>
              <a:t>TEAM MEMBER 03</a:t>
            </a:r>
          </a:p>
          <a:p>
            <a:pPr>
              <a:spcBef>
                <a:spcPts val="600"/>
              </a:spcBef>
            </a:pPr>
            <a:r>
              <a:rPr sz="2000" b="1">
                <a:solidFill>
                  <a:srgbClr val="FFFFFF"/>
                </a:solidFill>
                <a:latin typeface="Segoe UI"/>
              </a:rPr>
              <a:t>Kulsum</a:t>
            </a:r>
          </a:p>
          <a:p>
            <a:pPr>
              <a:spcBef>
                <a:spcPts val="300"/>
              </a:spcBef>
            </a:pPr>
            <a:r>
              <a:rPr sz="1200" b="1">
                <a:solidFill>
                  <a:srgbClr val="8B5CF6"/>
                </a:solidFill>
                <a:latin typeface="Segoe UI"/>
              </a:rPr>
              <a:t>Frontend Architect &amp; UX Specialist</a:t>
            </a:r>
          </a:p>
          <a:p>
            <a:pPr>
              <a:spcBef>
                <a:spcPts val="600"/>
              </a:spcBef>
            </a:pPr>
            <a:r>
              <a:rPr sz="800">
                <a:solidFill>
                  <a:srgbClr val="6B7280"/>
                </a:solidFill>
              </a:rPr>
              <a:t>──────────────────────────</a:t>
            </a:r>
          </a:p>
          <a:p>
            <a:pPr>
              <a:spcBef>
                <a:spcPts val="600"/>
              </a:spcBef>
            </a:pPr>
            <a:r>
              <a:rPr sz="1100" b="1">
                <a:solidFill>
                  <a:srgbClr val="9CA3AF"/>
                </a:solidFill>
                <a:latin typeface="Segoe UI"/>
              </a:rPr>
              <a:t>Core Responsibilities:</a:t>
            </a:r>
          </a:p>
          <a:p>
            <a:pPr>
              <a:spcBef>
                <a:spcPts val="400"/>
              </a:spcBef>
            </a:pPr>
            <a:r>
              <a:rPr sz="1100">
                <a:solidFill>
                  <a:srgbClr val="FFFFFF"/>
                </a:solidFill>
                <a:latin typeface="Segoe UI"/>
              </a:rPr>
              <a:t>• Next.js 14 App Router &amp; TypeScript</a:t>
            </a:r>
          </a:p>
          <a:p>
            <a:pPr>
              <a:spcBef>
                <a:spcPts val="400"/>
              </a:spcBef>
            </a:pPr>
            <a:r>
              <a:rPr sz="1100">
                <a:solidFill>
                  <a:srgbClr val="FFFFFF"/>
                </a:solidFill>
                <a:latin typeface="Segoe UI"/>
              </a:rPr>
              <a:t>• Interactive Clarification Chat Loop</a:t>
            </a:r>
          </a:p>
          <a:p>
            <a:pPr>
              <a:spcBef>
                <a:spcPts val="400"/>
              </a:spcBef>
            </a:pPr>
            <a:r>
              <a:rPr sz="1100">
                <a:solidFill>
                  <a:srgbClr val="FFFFFF"/>
                </a:solidFill>
                <a:latin typeface="Segoe UI"/>
              </a:rPr>
              <a:t>• Evidence Gallery &amp; Telemetry UX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0040"/>
          </a:xfrm>
          <a:prstGeom prst="roundRect">
            <a:avLst/>
          </a:prstGeom>
          <a:solidFill>
            <a:srgbClr val="141B2D"/>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3B82F6"/>
                </a:solidFill>
                <a:latin typeface="Segoe UI"/>
              </a:rPr>
              <a:t>SLIDE 02 • PROBLEM DEFINITION</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r>
              <a:rPr sz="2600" b="1">
                <a:solidFill>
                  <a:srgbClr val="FFFFFF"/>
                </a:solidFill>
                <a:latin typeface="Segoe UI"/>
              </a:rPr>
              <a:t>Problem Statement &amp; Industry Impact</a:t>
            </a:r>
          </a:p>
          <a:p>
            <a:pPr>
              <a:spcBef>
                <a:spcPts val="400"/>
              </a:spcBef>
            </a:pPr>
            <a:r>
              <a:rPr sz="1300">
                <a:solidFill>
                  <a:srgbClr val="9CA3AF"/>
                </a:solidFill>
                <a:latin typeface="Segoe UI"/>
              </a:rPr>
              <a:t>Software engineering teams waste 30-45% of sprint cycles triaging incomplete bug reports.</a:t>
            </a:r>
          </a:p>
        </p:txBody>
      </p:sp>
      <p:sp>
        <p:nvSpPr>
          <p:cNvPr id="5" name="Rounded Rectangle 4"/>
          <p:cNvSpPr/>
          <p:nvPr/>
        </p:nvSpPr>
        <p:spPr>
          <a:xfrm>
            <a:off x="731520" y="1691640"/>
            <a:ext cx="5230368" cy="2331720"/>
          </a:xfrm>
          <a:prstGeom prst="roundRect">
            <a:avLst/>
          </a:prstGeom>
          <a:solidFill>
            <a:srgbClr val="141B2D"/>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56232"/>
            <a:ext cx="4864608" cy="411480"/>
          </a:xfrm>
          <a:prstGeom prst="rect">
            <a:avLst/>
          </a:prstGeom>
          <a:noFill/>
        </p:spPr>
        <p:txBody>
          <a:bodyPr wrap="square" lIns="0" tIns="0" rIns="0" bIns="0">
            <a:spAutoFit/>
          </a:bodyPr>
          <a:lstStyle/>
          <a:p>
            <a:r>
              <a:rPr sz="1500" b="1">
                <a:solidFill>
                  <a:srgbClr val="3B82F6"/>
                </a:solidFill>
                <a:latin typeface="Segoe UI"/>
              </a:rPr>
              <a:t>1. Domain Context</a:t>
            </a:r>
          </a:p>
        </p:txBody>
      </p:sp>
      <p:sp>
        <p:nvSpPr>
          <p:cNvPr id="7" name="TextBox 6"/>
          <p:cNvSpPr txBox="1"/>
          <p:nvPr/>
        </p:nvSpPr>
        <p:spPr>
          <a:xfrm>
            <a:off x="914400" y="2286000"/>
            <a:ext cx="4864608" cy="1645920"/>
          </a:xfrm>
          <a:prstGeom prst="rect">
            <a:avLst/>
          </a:prstGeom>
          <a:noFill/>
        </p:spPr>
        <p:txBody>
          <a:bodyPr wrap="square" lIns="0" tIns="0" rIns="0" bIns="0">
            <a:spAutoFit/>
          </a:bodyPr>
          <a:lstStyle/>
          <a:p>
            <a:r>
              <a:rPr sz="1100" b="1">
                <a:solidFill>
                  <a:srgbClr val="3B82F6"/>
                </a:solidFill>
                <a:latin typeface="Segoe UI"/>
              </a:rPr>
              <a:t>• Industry: </a:t>
            </a:r>
            <a:r>
              <a:rPr sz="1100">
                <a:solidFill>
                  <a:srgbClr val="FFFFFF"/>
                </a:solidFill>
                <a:latin typeface="Segoe UI"/>
              </a:rPr>
              <a:t>Software Engineering, QA &amp; DevOps Incident Operations.</a:t>
            </a:r>
          </a:p>
          <a:p>
            <a:pPr>
              <a:spcBef>
                <a:spcPts val="600"/>
              </a:spcBef>
            </a:pPr>
            <a:r>
              <a:rPr sz="1100" b="1">
                <a:solidFill>
                  <a:srgbClr val="3B82F6"/>
                </a:solidFill>
                <a:latin typeface="Segoe UI"/>
              </a:rPr>
              <a:t>• Scale: </a:t>
            </a:r>
            <a:r>
              <a:rPr sz="1100">
                <a:solidFill>
                  <a:srgbClr val="FFFFFF"/>
                </a:solidFill>
                <a:latin typeface="Segoe UI"/>
              </a:rPr>
              <a:t>Agile teams receive hundreds of bug reports weekly across Jira, Slack, GitHub, and customer support channels.</a:t>
            </a:r>
          </a:p>
          <a:p>
            <a:pPr>
              <a:spcBef>
                <a:spcPts val="600"/>
              </a:spcBef>
            </a:pPr>
            <a:r>
              <a:rPr sz="1100" b="1">
                <a:solidFill>
                  <a:srgbClr val="3B82F6"/>
                </a:solidFill>
                <a:latin typeface="Segoe UI"/>
              </a:rPr>
              <a:t>• Bottleneck: </a:t>
            </a:r>
            <a:r>
              <a:rPr sz="1100">
                <a:solidFill>
                  <a:srgbClr val="FFFFFF"/>
                </a:solidFill>
                <a:latin typeface="Segoe UI"/>
              </a:rPr>
              <a:t>Triage is still 100% manual, highly fragmented, and prone to human cognitive fatigue.</a:t>
            </a:r>
          </a:p>
        </p:txBody>
      </p:sp>
      <p:sp>
        <p:nvSpPr>
          <p:cNvPr id="8" name="Rounded Rectangle 7"/>
          <p:cNvSpPr/>
          <p:nvPr/>
        </p:nvSpPr>
        <p:spPr>
          <a:xfrm>
            <a:off x="6217920" y="1691640"/>
            <a:ext cx="5230368" cy="2331720"/>
          </a:xfrm>
          <a:prstGeom prst="roundRect">
            <a:avLst/>
          </a:prstGeom>
          <a:solidFill>
            <a:srgbClr val="141B2D"/>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56232"/>
            <a:ext cx="4864608" cy="411480"/>
          </a:xfrm>
          <a:prstGeom prst="rect">
            <a:avLst/>
          </a:prstGeom>
          <a:noFill/>
        </p:spPr>
        <p:txBody>
          <a:bodyPr wrap="square" lIns="0" tIns="0" rIns="0" bIns="0">
            <a:spAutoFit/>
          </a:bodyPr>
          <a:lstStyle/>
          <a:p>
            <a:r>
              <a:rPr sz="1500" b="1">
                <a:solidFill>
                  <a:srgbClr val="EF4444"/>
                </a:solidFill>
                <a:latin typeface="Segoe UI"/>
              </a:rPr>
              <a:t>2. The Core Problem</a:t>
            </a:r>
          </a:p>
        </p:txBody>
      </p:sp>
      <p:sp>
        <p:nvSpPr>
          <p:cNvPr id="10" name="TextBox 9"/>
          <p:cNvSpPr txBox="1"/>
          <p:nvPr/>
        </p:nvSpPr>
        <p:spPr>
          <a:xfrm>
            <a:off x="6400800" y="2286000"/>
            <a:ext cx="4864608" cy="1645920"/>
          </a:xfrm>
          <a:prstGeom prst="rect">
            <a:avLst/>
          </a:prstGeom>
          <a:noFill/>
        </p:spPr>
        <p:txBody>
          <a:bodyPr wrap="square" lIns="0" tIns="0" rIns="0" bIns="0">
            <a:spAutoFit/>
          </a:bodyPr>
          <a:lstStyle/>
          <a:p>
            <a:r>
              <a:rPr sz="1100" b="1">
                <a:solidFill>
                  <a:srgbClr val="EF4444"/>
                </a:solidFill>
                <a:latin typeface="Segoe UI"/>
              </a:rPr>
              <a:t>• Ambiguous Reports: </a:t>
            </a:r>
            <a:r>
              <a:rPr sz="1100">
                <a:solidFill>
                  <a:srgbClr val="FFFFFF"/>
                </a:solidFill>
                <a:latin typeface="Segoe UI"/>
              </a:rPr>
              <a:t>Vague descriptions ('login broken', missing steps, no OS/browser info) cause endless back-and-forth ping-pong.</a:t>
            </a:r>
          </a:p>
          <a:p>
            <a:pPr>
              <a:spcBef>
                <a:spcPts val="600"/>
              </a:spcBef>
            </a:pPr>
            <a:r>
              <a:rPr sz="1100" b="1">
                <a:solidFill>
                  <a:srgbClr val="EF4444"/>
                </a:solidFill>
                <a:latin typeface="Segoe UI"/>
              </a:rPr>
              <a:t>• Duplicate Avalanche: </a:t>
            </a:r>
            <a:r>
              <a:rPr sz="1100">
                <a:solidFill>
                  <a:srgbClr val="FFFFFF"/>
                </a:solidFill>
                <a:latin typeface="Segoe UI"/>
              </a:rPr>
              <a:t>20-30% of incoming tickets are duplicates phrased differently, clogging engineering backlogs.</a:t>
            </a:r>
          </a:p>
          <a:p>
            <a:pPr>
              <a:spcBef>
                <a:spcPts val="600"/>
              </a:spcBef>
            </a:pPr>
            <a:r>
              <a:rPr sz="1100" b="1">
                <a:solidFill>
                  <a:srgbClr val="EF4444"/>
                </a:solidFill>
                <a:latin typeface="Segoe UI"/>
              </a:rPr>
              <a:t>• Flaky Reproduction: </a:t>
            </a:r>
            <a:r>
              <a:rPr sz="1100">
                <a:solidFill>
                  <a:srgbClr val="FFFFFF"/>
                </a:solidFill>
                <a:latin typeface="Segoe UI"/>
              </a:rPr>
              <a:t>Engineers spend hours attempting to replicate errors without structured steps or visual evidence.</a:t>
            </a:r>
          </a:p>
        </p:txBody>
      </p:sp>
      <p:sp>
        <p:nvSpPr>
          <p:cNvPr id="11" name="Rounded Rectangle 10"/>
          <p:cNvSpPr/>
          <p:nvPr/>
        </p:nvSpPr>
        <p:spPr>
          <a:xfrm>
            <a:off x="731520" y="4160520"/>
            <a:ext cx="5230368" cy="2331720"/>
          </a:xfrm>
          <a:prstGeom prst="roundRect">
            <a:avLst/>
          </a:prstGeom>
          <a:solidFill>
            <a:srgbClr val="141B2D"/>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325112"/>
            <a:ext cx="4864608" cy="411480"/>
          </a:xfrm>
          <a:prstGeom prst="rect">
            <a:avLst/>
          </a:prstGeom>
          <a:noFill/>
        </p:spPr>
        <p:txBody>
          <a:bodyPr wrap="square" lIns="0" tIns="0" rIns="0" bIns="0">
            <a:spAutoFit/>
          </a:bodyPr>
          <a:lstStyle/>
          <a:p>
            <a:r>
              <a:rPr sz="1500" b="1">
                <a:solidFill>
                  <a:srgbClr val="06B6D4"/>
                </a:solidFill>
                <a:latin typeface="Segoe UI"/>
              </a:rPr>
              <a:t>3. Target Users</a:t>
            </a:r>
          </a:p>
        </p:txBody>
      </p:sp>
      <p:sp>
        <p:nvSpPr>
          <p:cNvPr id="13" name="TextBox 12"/>
          <p:cNvSpPr txBox="1"/>
          <p:nvPr/>
        </p:nvSpPr>
        <p:spPr>
          <a:xfrm>
            <a:off x="914400" y="4754880"/>
            <a:ext cx="4864608" cy="1645920"/>
          </a:xfrm>
          <a:prstGeom prst="rect">
            <a:avLst/>
          </a:prstGeom>
          <a:noFill/>
        </p:spPr>
        <p:txBody>
          <a:bodyPr wrap="square" lIns="0" tIns="0" rIns="0" bIns="0">
            <a:spAutoFit/>
          </a:bodyPr>
          <a:lstStyle/>
          <a:p>
            <a:r>
              <a:rPr sz="1100" b="1">
                <a:solidFill>
                  <a:srgbClr val="06B6D4"/>
                </a:solidFill>
                <a:latin typeface="Segoe UI"/>
              </a:rPr>
              <a:t>• Developers &amp; Tech Leads: </a:t>
            </a:r>
            <a:r>
              <a:rPr sz="1100">
                <a:solidFill>
                  <a:srgbClr val="FFFFFF"/>
                </a:solidFill>
                <a:latin typeface="Segoe UI"/>
              </a:rPr>
              <a:t>Need clean, verified, reproduction-script-backed tickets with exact component assignments.</a:t>
            </a:r>
          </a:p>
          <a:p>
            <a:pPr>
              <a:spcBef>
                <a:spcPts val="600"/>
              </a:spcBef>
            </a:pPr>
            <a:r>
              <a:rPr sz="1100" b="1">
                <a:solidFill>
                  <a:srgbClr val="06B6D4"/>
                </a:solidFill>
                <a:latin typeface="Segoe UI"/>
              </a:rPr>
              <a:t>• QA &amp; SDET Engineers: </a:t>
            </a:r>
            <a:r>
              <a:rPr sz="1100">
                <a:solidFill>
                  <a:srgbClr val="FFFFFF"/>
                </a:solidFill>
                <a:latin typeface="Segoe UI"/>
              </a:rPr>
              <a:t>Need automated test generation and elimination of repetitive manual sanity testing.</a:t>
            </a:r>
          </a:p>
          <a:p>
            <a:pPr>
              <a:spcBef>
                <a:spcPts val="600"/>
              </a:spcBef>
            </a:pPr>
            <a:r>
              <a:rPr sz="1100" b="1">
                <a:solidFill>
                  <a:srgbClr val="06B6D4"/>
                </a:solidFill>
                <a:latin typeface="Segoe UI"/>
              </a:rPr>
              <a:t>• Product &amp; Support Teams: </a:t>
            </a:r>
            <a:r>
              <a:rPr sz="1100">
                <a:solidFill>
                  <a:srgbClr val="FFFFFF"/>
                </a:solidFill>
                <a:latin typeface="Segoe UI"/>
              </a:rPr>
              <a:t>Require instant classification, accurate SLA priority (P0-P3), and rapid turnaround for customers.</a:t>
            </a:r>
          </a:p>
        </p:txBody>
      </p:sp>
      <p:sp>
        <p:nvSpPr>
          <p:cNvPr id="14" name="Rounded Rectangle 13"/>
          <p:cNvSpPr/>
          <p:nvPr/>
        </p:nvSpPr>
        <p:spPr>
          <a:xfrm>
            <a:off x="6217920" y="4160520"/>
            <a:ext cx="5230368" cy="2331720"/>
          </a:xfrm>
          <a:prstGeom prst="roundRect">
            <a:avLst/>
          </a:prstGeom>
          <a:solidFill>
            <a:srgbClr val="141B2D"/>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325112"/>
            <a:ext cx="4864608" cy="411480"/>
          </a:xfrm>
          <a:prstGeom prst="rect">
            <a:avLst/>
          </a:prstGeom>
          <a:noFill/>
        </p:spPr>
        <p:txBody>
          <a:bodyPr wrap="square" lIns="0" tIns="0" rIns="0" bIns="0">
            <a:spAutoFit/>
          </a:bodyPr>
          <a:lstStyle/>
          <a:p>
            <a:r>
              <a:rPr sz="1500" b="1">
                <a:solidFill>
                  <a:srgbClr val="F59E0B"/>
                </a:solidFill>
                <a:latin typeface="Segoe UI"/>
              </a:rPr>
              <a:t>4. Why It Matters</a:t>
            </a:r>
          </a:p>
        </p:txBody>
      </p:sp>
      <p:sp>
        <p:nvSpPr>
          <p:cNvPr id="16" name="TextBox 15"/>
          <p:cNvSpPr txBox="1"/>
          <p:nvPr/>
        </p:nvSpPr>
        <p:spPr>
          <a:xfrm>
            <a:off x="6400800" y="4754880"/>
            <a:ext cx="4864608" cy="1645920"/>
          </a:xfrm>
          <a:prstGeom prst="rect">
            <a:avLst/>
          </a:prstGeom>
          <a:noFill/>
        </p:spPr>
        <p:txBody>
          <a:bodyPr wrap="square" lIns="0" tIns="0" rIns="0" bIns="0">
            <a:spAutoFit/>
          </a:bodyPr>
          <a:lstStyle/>
          <a:p>
            <a:r>
              <a:rPr sz="1100" b="1">
                <a:solidFill>
                  <a:srgbClr val="F59E0B"/>
                </a:solidFill>
                <a:latin typeface="Segoe UI"/>
              </a:rPr>
              <a:t>• High Financial Drain: </a:t>
            </a:r>
            <a:r>
              <a:rPr sz="1100">
                <a:solidFill>
                  <a:srgbClr val="FFFFFF"/>
                </a:solidFill>
                <a:latin typeface="Segoe UI"/>
              </a:rPr>
              <a:t>$50k+ lost engineering hours annually per squad on manual administrative triaging.</a:t>
            </a:r>
          </a:p>
          <a:p>
            <a:pPr>
              <a:spcBef>
                <a:spcPts val="600"/>
              </a:spcBef>
            </a:pPr>
            <a:r>
              <a:rPr sz="1100" b="1">
                <a:solidFill>
                  <a:srgbClr val="F59E0B"/>
                </a:solidFill>
                <a:latin typeface="Segoe UI"/>
              </a:rPr>
              <a:t>• Slow MTTR: </a:t>
            </a:r>
            <a:r>
              <a:rPr sz="1100">
                <a:solidFill>
                  <a:srgbClr val="FFFFFF"/>
                </a:solidFill>
                <a:latin typeface="Segoe UI"/>
              </a:rPr>
              <a:t>Critical regressions linger unaddressed while tickets bounce between mismatched owners.</a:t>
            </a:r>
          </a:p>
          <a:p>
            <a:pPr>
              <a:spcBef>
                <a:spcPts val="600"/>
              </a:spcBef>
            </a:pPr>
            <a:r>
              <a:rPr sz="1100" b="1">
                <a:solidFill>
                  <a:srgbClr val="F59E0B"/>
                </a:solidFill>
                <a:latin typeface="Segoe UI"/>
              </a:rPr>
              <a:t>• Severe Burnout: </a:t>
            </a:r>
            <a:r>
              <a:rPr sz="1100">
                <a:solidFill>
                  <a:srgbClr val="FFFFFF"/>
                </a:solidFill>
                <a:latin typeface="Segoe UI"/>
              </a:rPr>
              <a:t>Senior engineers get pulled out of deep coding flow to investigate 'cannot reproduce' ghosts.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0040"/>
          </a:xfrm>
          <a:prstGeom prst="roundRect">
            <a:avLst/>
          </a:prstGeom>
          <a:solidFill>
            <a:srgbClr val="141B2D"/>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3B82F6"/>
                </a:solidFill>
                <a:latin typeface="Segoe UI"/>
              </a:rPr>
              <a:t>SLIDE 03 • PROPOSED SOLUTION</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r>
              <a:rPr sz="2600" b="1">
                <a:solidFill>
                  <a:srgbClr val="FFFFFF"/>
                </a:solidFill>
                <a:latin typeface="Segoe UI"/>
              </a:rPr>
              <a:t>BugTriage.ai: Autonomous Multi-Agent Pipeline</a:t>
            </a:r>
          </a:p>
          <a:p>
            <a:pPr>
              <a:spcBef>
                <a:spcPts val="400"/>
              </a:spcBef>
            </a:pPr>
            <a:r>
              <a:rPr sz="1300">
                <a:solidFill>
                  <a:srgbClr val="9CA3AF"/>
                </a:solidFill>
                <a:latin typeface="Segoe UI"/>
              </a:rPr>
              <a:t>Transforming ambiguous, unstructured bug reports into verified, reproducible tickets in &lt;45s.</a:t>
            </a:r>
          </a:p>
        </p:txBody>
      </p:sp>
      <p:sp>
        <p:nvSpPr>
          <p:cNvPr id="5" name="Rounded Rectangle 4"/>
          <p:cNvSpPr/>
          <p:nvPr/>
        </p:nvSpPr>
        <p:spPr>
          <a:xfrm>
            <a:off x="731520" y="1691640"/>
            <a:ext cx="4114800" cy="4709160"/>
          </a:xfrm>
          <a:prstGeom prst="roundRect">
            <a:avLst/>
          </a:prstGeom>
          <a:solidFill>
            <a:srgbClr val="141B2D"/>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56232"/>
            <a:ext cx="3749040" cy="411480"/>
          </a:xfrm>
          <a:prstGeom prst="rect">
            <a:avLst/>
          </a:prstGeom>
          <a:noFill/>
        </p:spPr>
        <p:txBody>
          <a:bodyPr wrap="square" lIns="0" tIns="0" rIns="0" bIns="0">
            <a:spAutoFit/>
          </a:bodyPr>
          <a:lstStyle/>
          <a:p>
            <a:r>
              <a:rPr sz="1500" b="1">
                <a:solidFill>
                  <a:srgbClr val="06B6D4"/>
                </a:solidFill>
                <a:latin typeface="Segoe UI"/>
              </a:rPr>
              <a:t>Autonomous System Overview</a:t>
            </a:r>
          </a:p>
        </p:txBody>
      </p:sp>
      <p:sp>
        <p:nvSpPr>
          <p:cNvPr id="7" name="TextBox 6"/>
          <p:cNvSpPr txBox="1"/>
          <p:nvPr/>
        </p:nvSpPr>
        <p:spPr>
          <a:xfrm>
            <a:off x="960120" y="2286000"/>
            <a:ext cx="3657600" cy="3931920"/>
          </a:xfrm>
          <a:prstGeom prst="rect">
            <a:avLst/>
          </a:prstGeom>
          <a:noFill/>
        </p:spPr>
        <p:txBody>
          <a:bodyPr wrap="square" lIns="0" tIns="0" rIns="0" bIns="0">
            <a:spAutoFit/>
          </a:bodyPr>
          <a:lstStyle/>
          <a:p>
            <a:r>
              <a:rPr sz="1100" b="1">
                <a:solidFill>
                  <a:srgbClr val="06B6D4"/>
                </a:solidFill>
                <a:latin typeface="Segoe UI"/>
              </a:rPr>
              <a:t>Proposed Solution
</a:t>
            </a:r>
            <a:r>
              <a:rPr sz="1050">
                <a:solidFill>
                  <a:srgbClr val="FFFFFF"/>
                </a:solidFill>
                <a:latin typeface="Segoe UI"/>
              </a:rPr>
              <a:t>A production-grade, 4-agent autonomous pipeline orchestrating LLMs, vector memory, and headless browsers.</a:t>
            </a:r>
          </a:p>
          <a:p>
            <a:pPr>
              <a:spcBef>
                <a:spcPts val="800"/>
              </a:spcBef>
            </a:pPr>
            <a:r>
              <a:rPr sz="1100" b="1">
                <a:solidFill>
                  <a:srgbClr val="06B6D4"/>
                </a:solidFill>
                <a:latin typeface="Segoe UI"/>
              </a:rPr>
              <a:t>Interactive Clarification
</a:t>
            </a:r>
            <a:r>
              <a:rPr sz="1050">
                <a:solidFill>
                  <a:srgbClr val="FFFFFF"/>
                </a:solidFill>
                <a:latin typeface="Segoe UI"/>
              </a:rPr>
              <a:t>If critical fields (steps, environment) are missing, the system pauses execution ('waiting_for_user') and asks targeted questions in an interactive chat.</a:t>
            </a:r>
          </a:p>
          <a:p>
            <a:pPr>
              <a:spcBef>
                <a:spcPts val="800"/>
              </a:spcBef>
            </a:pPr>
            <a:r>
              <a:rPr sz="1100" b="1">
                <a:solidFill>
                  <a:srgbClr val="06B6D4"/>
                </a:solidFill>
                <a:latin typeface="Segoe UI"/>
              </a:rPr>
              <a:t>Semantic Deduplication
</a:t>
            </a:r>
            <a:r>
              <a:rPr sz="1050">
                <a:solidFill>
                  <a:srgbClr val="FFFFFF"/>
                </a:solidFill>
                <a:latin typeface="Segoe UI"/>
              </a:rPr>
              <a:t>Instant vector cosine similarity search in ChromaDB flags duplicates with &gt;85% confidence and visual side-by-side diffs.</a:t>
            </a:r>
          </a:p>
          <a:p>
            <a:pPr>
              <a:spcBef>
                <a:spcPts val="800"/>
              </a:spcBef>
            </a:pPr>
            <a:r>
              <a:rPr sz="1100" b="1">
                <a:solidFill>
                  <a:srgbClr val="06B6D4"/>
                </a:solidFill>
                <a:latin typeface="Segoe UI"/>
              </a:rPr>
              <a:t>Headless Browser Proof
</a:t>
            </a:r>
            <a:r>
              <a:rPr sz="1050">
                <a:solidFill>
                  <a:srgbClr val="FFFFFF"/>
                </a:solidFill>
                <a:latin typeface="Segoe UI"/>
              </a:rPr>
              <a:t>Synthesizes executable Selenium WebDriver 4 scripts to reproduce the defect and capture DOM screenshots and console logs.</a:t>
            </a:r>
          </a:p>
          <a:p>
            <a:pPr>
              <a:spcBef>
                <a:spcPts val="800"/>
              </a:spcBef>
            </a:pPr>
            <a:r>
              <a:rPr sz="1100" b="1">
                <a:solidFill>
                  <a:srgbClr val="06B6D4"/>
                </a:solidFill>
                <a:latin typeface="Segoe UI"/>
              </a:rPr>
              <a:t>Intelligent Component Routing
</a:t>
            </a:r>
            <a:r>
              <a:rPr sz="1050">
                <a:solidFill>
                  <a:srgbClr val="FFFFFF"/>
                </a:solidFill>
                <a:latin typeface="Segoe UI"/>
              </a:rPr>
              <a:t>Detects release regressions, classifies severity (P0-P3), and assigns the exact owning engineer.</a:t>
            </a:r>
          </a:p>
        </p:txBody>
      </p:sp>
      <p:sp>
        <p:nvSpPr>
          <p:cNvPr id="8" name="Rounded Rectangle 7"/>
          <p:cNvSpPr/>
          <p:nvPr/>
        </p:nvSpPr>
        <p:spPr>
          <a:xfrm>
            <a:off x="5120640" y="1691640"/>
            <a:ext cx="6339535" cy="4709160"/>
          </a:xfrm>
          <a:prstGeom prst="roundRect">
            <a:avLst/>
          </a:prstGeom>
          <a:solidFill>
            <a:srgbClr val="141B2D"/>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1856232"/>
            <a:ext cx="5973775" cy="411480"/>
          </a:xfrm>
          <a:prstGeom prst="rect">
            <a:avLst/>
          </a:prstGeom>
          <a:noFill/>
        </p:spPr>
        <p:txBody>
          <a:bodyPr wrap="square" lIns="0" tIns="0" rIns="0" bIns="0">
            <a:spAutoFit/>
          </a:bodyPr>
          <a:lstStyle/>
          <a:p>
            <a:r>
              <a:rPr sz="1500" b="1">
                <a:solidFill>
                  <a:srgbClr val="10B981"/>
                </a:solidFill>
                <a:latin typeface="Segoe UI"/>
              </a:rPr>
              <a:t>The 4-Agent Autonomous Workflow</a:t>
            </a:r>
          </a:p>
        </p:txBody>
      </p:sp>
      <p:sp>
        <p:nvSpPr>
          <p:cNvPr id="10" name="Rounded Rectangle 9"/>
          <p:cNvSpPr/>
          <p:nvPr/>
        </p:nvSpPr>
        <p:spPr>
          <a:xfrm>
            <a:off x="5349240" y="2240280"/>
            <a:ext cx="5882335" cy="896112"/>
          </a:xfrm>
          <a:prstGeom prst="roundRect">
            <a:avLst/>
          </a:prstGeom>
          <a:solidFill>
            <a:srgbClr val="0F172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0" y="2313432"/>
            <a:ext cx="5608015" cy="749808"/>
          </a:xfrm>
          <a:prstGeom prst="rect">
            <a:avLst/>
          </a:prstGeom>
          <a:noFill/>
        </p:spPr>
        <p:txBody>
          <a:bodyPr wrap="square" lIns="0" tIns="0" rIns="0" bIns="0">
            <a:spAutoFit/>
          </a:bodyPr>
          <a:lstStyle/>
          <a:p>
            <a:r>
              <a:rPr sz="1100" b="1">
                <a:solidFill>
                  <a:srgbClr val="3B82F6"/>
                </a:solidFill>
                <a:latin typeface="Segoe UI"/>
              </a:rPr>
              <a:t>AGENT 01: TRIAGE AGENT</a:t>
            </a:r>
          </a:p>
          <a:p>
            <a:pPr>
              <a:spcBef>
                <a:spcPts val="300"/>
              </a:spcBef>
            </a:pPr>
            <a:r>
              <a:rPr sz="1000">
                <a:solidFill>
                  <a:srgbClr val="FFFFFF"/>
                </a:solidFill>
                <a:latin typeface="Segoe UI"/>
              </a:rPr>
              <a:t>Ingests raw text (email, Slack, Jira) → Normalizes steps to reproduce &amp; environment → Evaluates completeness (triggers clarification loop if incomplete).</a:t>
            </a:r>
          </a:p>
        </p:txBody>
      </p:sp>
      <p:sp>
        <p:nvSpPr>
          <p:cNvPr id="12" name="Rounded Rectangle 11"/>
          <p:cNvSpPr/>
          <p:nvPr/>
        </p:nvSpPr>
        <p:spPr>
          <a:xfrm>
            <a:off x="5349240" y="3300984"/>
            <a:ext cx="5882335" cy="896112"/>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0" y="3374136"/>
            <a:ext cx="5608015" cy="749808"/>
          </a:xfrm>
          <a:prstGeom prst="rect">
            <a:avLst/>
          </a:prstGeom>
          <a:noFill/>
        </p:spPr>
        <p:txBody>
          <a:bodyPr wrap="square" lIns="0" tIns="0" rIns="0" bIns="0">
            <a:spAutoFit/>
          </a:bodyPr>
          <a:lstStyle/>
          <a:p>
            <a:r>
              <a:rPr sz="1100" b="1">
                <a:solidFill>
                  <a:srgbClr val="06B6D4"/>
                </a:solidFill>
                <a:latin typeface="Segoe UI"/>
              </a:rPr>
              <a:t>AGENT 02: INTELLIGENCE AGENT</a:t>
            </a:r>
          </a:p>
          <a:p>
            <a:pPr>
              <a:spcBef>
                <a:spcPts val="300"/>
              </a:spcBef>
            </a:pPr>
            <a:r>
              <a:rPr sz="1000">
                <a:solidFill>
                  <a:srgbClr val="FFFFFF"/>
                </a:solidFill>
                <a:latin typeface="Segoe UI"/>
              </a:rPr>
              <a:t>Generates high-dimensional vector embeddings → ChromaDB semantic similarity search (&gt;85% duplicate flag) → Maps to architectural component &amp; P0-P3 priority.</a:t>
            </a:r>
          </a:p>
        </p:txBody>
      </p:sp>
      <p:sp>
        <p:nvSpPr>
          <p:cNvPr id="14" name="Rounded Rectangle 13"/>
          <p:cNvSpPr/>
          <p:nvPr/>
        </p:nvSpPr>
        <p:spPr>
          <a:xfrm>
            <a:off x="5349240" y="4361688"/>
            <a:ext cx="5882335" cy="896112"/>
          </a:xfrm>
          <a:prstGeom prst="roundRect">
            <a:avLst/>
          </a:prstGeom>
          <a:solidFill>
            <a:srgbClr val="0F172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0" y="4434840"/>
            <a:ext cx="5608015" cy="749808"/>
          </a:xfrm>
          <a:prstGeom prst="rect">
            <a:avLst/>
          </a:prstGeom>
          <a:noFill/>
        </p:spPr>
        <p:txBody>
          <a:bodyPr wrap="square" lIns="0" tIns="0" rIns="0" bIns="0">
            <a:spAutoFit/>
          </a:bodyPr>
          <a:lstStyle/>
          <a:p>
            <a:r>
              <a:rPr sz="1100" b="1">
                <a:solidFill>
                  <a:srgbClr val="8B5CF6"/>
                </a:solidFill>
                <a:latin typeface="Segoe UI"/>
              </a:rPr>
              <a:t>AGENT 03: REPRODUCTION AGENT</a:t>
            </a:r>
          </a:p>
          <a:p>
            <a:pPr>
              <a:spcBef>
                <a:spcPts val="300"/>
              </a:spcBef>
            </a:pPr>
            <a:r>
              <a:rPr sz="1000">
                <a:solidFill>
                  <a:srgbClr val="FFFFFF"/>
                </a:solidFill>
                <a:latin typeface="Segoe UI"/>
              </a:rPr>
              <a:t>Synthesizes automated Selenium WebDriver Python test script → Executes in headless Chrome container → Captures DOM screenshots, DevTools console &amp; network logs.</a:t>
            </a:r>
          </a:p>
        </p:txBody>
      </p:sp>
      <p:sp>
        <p:nvSpPr>
          <p:cNvPr id="16" name="Rounded Rectangle 15"/>
          <p:cNvSpPr/>
          <p:nvPr/>
        </p:nvSpPr>
        <p:spPr>
          <a:xfrm>
            <a:off x="5349240" y="5422392"/>
            <a:ext cx="5882335" cy="896112"/>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0" y="5495544"/>
            <a:ext cx="5608015" cy="749808"/>
          </a:xfrm>
          <a:prstGeom prst="rect">
            <a:avLst/>
          </a:prstGeom>
          <a:noFill/>
        </p:spPr>
        <p:txBody>
          <a:bodyPr wrap="square" lIns="0" tIns="0" rIns="0" bIns="0">
            <a:spAutoFit/>
          </a:bodyPr>
          <a:lstStyle/>
          <a:p>
            <a:r>
              <a:rPr sz="1100" b="1">
                <a:solidFill>
                  <a:srgbClr val="F59E0B"/>
                </a:solidFill>
                <a:latin typeface="Segoe UI"/>
              </a:rPr>
              <a:t>AGENT 04: ROUTING &amp; ANALYSIS AGENT</a:t>
            </a:r>
          </a:p>
          <a:p>
            <a:pPr>
              <a:spcBef>
                <a:spcPts val="300"/>
              </a:spcBef>
            </a:pPr>
            <a:r>
              <a:rPr sz="1000">
                <a:solidFill>
                  <a:srgbClr val="FFFFFF"/>
                </a:solidFill>
                <a:latin typeface="Segoe UI"/>
              </a:rPr>
              <a:t>Performs historical regression check against release logs → Assigns owning developer &amp; team → Generates actionable executive Markdown triage report.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0040"/>
          </a:xfrm>
          <a:prstGeom prst="roundRect">
            <a:avLst/>
          </a:prstGeom>
          <a:solidFill>
            <a:srgbClr val="141B2D"/>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3B82F6"/>
                </a:solidFill>
                <a:latin typeface="Segoe UI"/>
              </a:rPr>
              <a:t>SLIDE 04 • TECHNICAL DETAILS &amp; UNIQUENESS</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r>
              <a:rPr sz="2600" b="1">
                <a:solidFill>
                  <a:srgbClr val="FFFFFF"/>
                </a:solidFill>
                <a:latin typeface="Segoe UI"/>
              </a:rPr>
              <a:t>Architecture, Tech Stack &amp; Key Differentiators</a:t>
            </a:r>
          </a:p>
          <a:p>
            <a:pPr>
              <a:spcBef>
                <a:spcPts val="400"/>
              </a:spcBef>
            </a:pPr>
            <a:r>
              <a:rPr sz="1300">
                <a:solidFill>
                  <a:srgbClr val="9CA3AF"/>
                </a:solidFill>
                <a:latin typeface="Segoe UI"/>
              </a:rPr>
              <a:t>Combining deterministic vector math, headless browser automation &amp; multi-agent reasoning.</a:t>
            </a:r>
          </a:p>
        </p:txBody>
      </p:sp>
      <p:sp>
        <p:nvSpPr>
          <p:cNvPr id="5" name="Rounded Rectangle 4"/>
          <p:cNvSpPr/>
          <p:nvPr/>
        </p:nvSpPr>
        <p:spPr>
          <a:xfrm>
            <a:off x="731520" y="1691640"/>
            <a:ext cx="3401568" cy="4709160"/>
          </a:xfrm>
          <a:prstGeom prst="roundRect">
            <a:avLst/>
          </a:prstGeom>
          <a:solidFill>
            <a:srgbClr val="141B2D"/>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56232"/>
            <a:ext cx="3035808" cy="411480"/>
          </a:xfrm>
          <a:prstGeom prst="rect">
            <a:avLst/>
          </a:prstGeom>
          <a:noFill/>
        </p:spPr>
        <p:txBody>
          <a:bodyPr wrap="square" lIns="0" tIns="0" rIns="0" bIns="0">
            <a:spAutoFit/>
          </a:bodyPr>
          <a:lstStyle/>
          <a:p>
            <a:r>
              <a:rPr sz="1500" b="1">
                <a:solidFill>
                  <a:srgbClr val="06B6D4"/>
                </a:solidFill>
                <a:latin typeface="Segoe UI"/>
              </a:rPr>
              <a:t>System Architecture</a:t>
            </a:r>
          </a:p>
        </p:txBody>
      </p:sp>
      <p:sp>
        <p:nvSpPr>
          <p:cNvPr id="7" name="TextBox 6"/>
          <p:cNvSpPr txBox="1"/>
          <p:nvPr/>
        </p:nvSpPr>
        <p:spPr>
          <a:xfrm>
            <a:off x="960120" y="2286000"/>
            <a:ext cx="2944368" cy="3977640"/>
          </a:xfrm>
          <a:prstGeom prst="rect">
            <a:avLst/>
          </a:prstGeom>
          <a:noFill/>
        </p:spPr>
        <p:txBody>
          <a:bodyPr wrap="square" lIns="0" tIns="0" rIns="0" bIns="0">
            <a:spAutoFit/>
          </a:bodyPr>
          <a:lstStyle/>
          <a:p>
            <a:r>
              <a:rPr sz="1100" b="1">
                <a:solidFill>
                  <a:srgbClr val="06B6D4"/>
                </a:solidFill>
                <a:latin typeface="Segoe UI"/>
              </a:rPr>
              <a:t>• Decoupled Micro-Pipeline
</a:t>
            </a:r>
            <a:r>
              <a:rPr sz="1050">
                <a:solidFill>
                  <a:srgbClr val="FFFFFF"/>
                </a:solidFill>
                <a:latin typeface="Segoe UI"/>
              </a:rPr>
              <a:t>Sequential agent state machine with asynchronous execution and event logging to AgentAction table.</a:t>
            </a:r>
          </a:p>
          <a:p>
            <a:pPr>
              <a:spcBef>
                <a:spcPts val="800"/>
              </a:spcBef>
            </a:pPr>
            <a:r>
              <a:rPr sz="1100" b="1">
                <a:solidFill>
                  <a:srgbClr val="06B6D4"/>
                </a:solidFill>
                <a:latin typeface="Segoe UI"/>
              </a:rPr>
              <a:t>• Real-Time Telemetry via SSE
</a:t>
            </a:r>
            <a:r>
              <a:rPr sz="1050">
                <a:solidFill>
                  <a:srgbClr val="FFFFFF"/>
                </a:solidFill>
                <a:latin typeface="Segoe UI"/>
              </a:rPr>
              <a:t>Server-Sent Events stream live status, thinking rationale, and progress tokens directly to Next.js client.</a:t>
            </a:r>
          </a:p>
          <a:p>
            <a:pPr>
              <a:spcBef>
                <a:spcPts val="800"/>
              </a:spcBef>
            </a:pPr>
            <a:r>
              <a:rPr sz="1100" b="1">
                <a:solidFill>
                  <a:srgbClr val="06B6D4"/>
                </a:solidFill>
                <a:latin typeface="Segoe UI"/>
              </a:rPr>
              <a:t>• Human-in-the-Loop Interrupt
</a:t>
            </a:r>
            <a:r>
              <a:rPr sz="1050">
                <a:solidFill>
                  <a:srgbClr val="FFFFFF"/>
                </a:solidFill>
                <a:latin typeface="Segoe UI"/>
              </a:rPr>
              <a:t>Pipeline pauses with 'waiting_for_user' on incomplete inputs; resumes seamlessly upon user chat reply.</a:t>
            </a:r>
          </a:p>
          <a:p>
            <a:pPr>
              <a:spcBef>
                <a:spcPts val="800"/>
              </a:spcBef>
            </a:pPr>
            <a:r>
              <a:rPr sz="1100" b="1">
                <a:solidFill>
                  <a:srgbClr val="06B6D4"/>
                </a:solidFill>
                <a:latin typeface="Segoe UI"/>
              </a:rPr>
              <a:t>• Explainable AI (XAI)
</a:t>
            </a:r>
            <a:r>
              <a:rPr sz="1050">
                <a:solidFill>
                  <a:srgbClr val="FFFFFF"/>
                </a:solidFill>
                <a:latin typeface="Segoe UI"/>
              </a:rPr>
              <a:t>Every agent decision includes an inspectable reasoning field explaining the 'why' behind classifications.</a:t>
            </a:r>
          </a:p>
        </p:txBody>
      </p:sp>
      <p:sp>
        <p:nvSpPr>
          <p:cNvPr id="8" name="Rounded Rectangle 7"/>
          <p:cNvSpPr/>
          <p:nvPr/>
        </p:nvSpPr>
        <p:spPr>
          <a:xfrm>
            <a:off x="4389120" y="1691640"/>
            <a:ext cx="3401568" cy="4709160"/>
          </a:xfrm>
          <a:prstGeom prst="roundRect">
            <a:avLst/>
          </a:prstGeom>
          <a:solidFill>
            <a:srgbClr val="141B2D"/>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56232"/>
            <a:ext cx="3035808" cy="411480"/>
          </a:xfrm>
          <a:prstGeom prst="rect">
            <a:avLst/>
          </a:prstGeom>
          <a:noFill/>
        </p:spPr>
        <p:txBody>
          <a:bodyPr wrap="square" lIns="0" tIns="0" rIns="0" bIns="0">
            <a:spAutoFit/>
          </a:bodyPr>
          <a:lstStyle/>
          <a:p>
            <a:r>
              <a:rPr sz="1500" b="1">
                <a:solidFill>
                  <a:srgbClr val="3B82F6"/>
                </a:solidFill>
                <a:latin typeface="Segoe UI"/>
              </a:rPr>
              <a:t>Locked Tech Stack</a:t>
            </a:r>
          </a:p>
        </p:txBody>
      </p:sp>
      <p:sp>
        <p:nvSpPr>
          <p:cNvPr id="10" name="TextBox 9"/>
          <p:cNvSpPr txBox="1"/>
          <p:nvPr/>
        </p:nvSpPr>
        <p:spPr>
          <a:xfrm>
            <a:off x="4617720" y="2286000"/>
            <a:ext cx="2944368" cy="3977640"/>
          </a:xfrm>
          <a:prstGeom prst="rect">
            <a:avLst/>
          </a:prstGeom>
          <a:noFill/>
        </p:spPr>
        <p:txBody>
          <a:bodyPr wrap="square" lIns="0" tIns="0" rIns="0" bIns="0">
            <a:spAutoFit/>
          </a:bodyPr>
          <a:lstStyle/>
          <a:p>
            <a:r>
              <a:rPr sz="1050" b="1">
                <a:solidFill>
                  <a:srgbClr val="3B82F6"/>
                </a:solidFill>
                <a:latin typeface="Segoe UI"/>
              </a:rPr>
              <a:t>• Frontend Layer: </a:t>
            </a:r>
            <a:r>
              <a:rPr sz="1000">
                <a:solidFill>
                  <a:srgbClr val="FFFFFF"/>
                </a:solidFill>
                <a:latin typeface="Segoe UI"/>
              </a:rPr>
              <a:t>Next.js 14 App Router, TypeScript, Tailwind CSS, Lucide Icons, Glassmorphism design tokens.</a:t>
            </a:r>
          </a:p>
          <a:p>
            <a:pPr>
              <a:spcBef>
                <a:spcPts val="600"/>
              </a:spcBef>
            </a:pPr>
            <a:r>
              <a:rPr sz="1050" b="1">
                <a:solidFill>
                  <a:srgbClr val="3B82F6"/>
                </a:solidFill>
                <a:latin typeface="Segoe UI"/>
              </a:rPr>
              <a:t>• Backend Services: </a:t>
            </a:r>
            <a:r>
              <a:rPr sz="1000">
                <a:solidFill>
                  <a:srgbClr val="FFFFFF"/>
                </a:solidFill>
                <a:latin typeface="Segoe UI"/>
              </a:rPr>
              <a:t>FastAPI (Python 3.11+ async), Pydantic v2 strict schemas, Uvicorn ASGI server.</a:t>
            </a:r>
          </a:p>
          <a:p>
            <a:pPr>
              <a:spcBef>
                <a:spcPts val="600"/>
              </a:spcBef>
            </a:pPr>
            <a:r>
              <a:rPr sz="1050" b="1">
                <a:solidFill>
                  <a:srgbClr val="3B82F6"/>
                </a:solidFill>
                <a:latin typeface="Segoe UI"/>
              </a:rPr>
              <a:t>• Database &amp; ORM: </a:t>
            </a:r>
            <a:r>
              <a:rPr sz="1000">
                <a:solidFill>
                  <a:srgbClr val="FFFFFF"/>
                </a:solidFill>
                <a:latin typeface="Segoe UI"/>
              </a:rPr>
              <a:t>PostgreSQL / SQLite, SQLAlchemy 2.0 async engine, Alembic database migrations.</a:t>
            </a:r>
          </a:p>
          <a:p>
            <a:pPr>
              <a:spcBef>
                <a:spcPts val="600"/>
              </a:spcBef>
            </a:pPr>
            <a:r>
              <a:rPr sz="1050" b="1">
                <a:solidFill>
                  <a:srgbClr val="3B82F6"/>
                </a:solidFill>
                <a:latin typeface="Segoe UI"/>
              </a:rPr>
              <a:t>• Vector DB &amp; Embeddings: </a:t>
            </a:r>
            <a:r>
              <a:rPr sz="1000">
                <a:solidFill>
                  <a:srgbClr val="FFFFFF"/>
                </a:solidFill>
                <a:latin typeface="Segoe UI"/>
              </a:rPr>
              <a:t>ChromaDB persistent client + sentence-transformers/all-MiniLM-L6-v2 embeddings.</a:t>
            </a:r>
          </a:p>
          <a:p>
            <a:pPr>
              <a:spcBef>
                <a:spcPts val="600"/>
              </a:spcBef>
            </a:pPr>
            <a:r>
              <a:rPr sz="1050" b="1">
                <a:solidFill>
                  <a:srgbClr val="3B82F6"/>
                </a:solidFill>
                <a:latin typeface="Segoe UI"/>
              </a:rPr>
              <a:t>• Browser Harness: </a:t>
            </a:r>
            <a:r>
              <a:rPr sz="1000">
                <a:solidFill>
                  <a:srgbClr val="FFFFFF"/>
                </a:solidFill>
                <a:latin typeface="Segoe UI"/>
              </a:rPr>
              <a:t>Selenium 4 Headless Chrome with DevTools protocol capture.</a:t>
            </a:r>
          </a:p>
          <a:p>
            <a:pPr>
              <a:spcBef>
                <a:spcPts val="600"/>
              </a:spcBef>
            </a:pPr>
            <a:r>
              <a:rPr sz="1050" b="1">
                <a:solidFill>
                  <a:srgbClr val="3B82F6"/>
                </a:solidFill>
                <a:latin typeface="Segoe UI"/>
              </a:rPr>
              <a:t>• LLM Engine: </a:t>
            </a:r>
            <a:r>
              <a:rPr sz="1000">
                <a:solidFill>
                  <a:srgbClr val="FFFFFF"/>
                </a:solidFill>
                <a:latin typeface="Segoe UI"/>
              </a:rPr>
              <a:t>Groq LPU (llama-3.3-70b-versatile) &amp; OpenAI GPT-4o with deterministic demo fallback.</a:t>
            </a:r>
          </a:p>
        </p:txBody>
      </p:sp>
      <p:sp>
        <p:nvSpPr>
          <p:cNvPr id="11" name="Rounded Rectangle 10"/>
          <p:cNvSpPr/>
          <p:nvPr/>
        </p:nvSpPr>
        <p:spPr>
          <a:xfrm>
            <a:off x="8046720" y="1691640"/>
            <a:ext cx="3401568" cy="4709160"/>
          </a:xfrm>
          <a:prstGeom prst="roundRect">
            <a:avLst/>
          </a:prstGeom>
          <a:solidFill>
            <a:srgbClr val="141B2D"/>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856232"/>
            <a:ext cx="3035808" cy="411480"/>
          </a:xfrm>
          <a:prstGeom prst="rect">
            <a:avLst/>
          </a:prstGeom>
          <a:noFill/>
        </p:spPr>
        <p:txBody>
          <a:bodyPr wrap="square" lIns="0" tIns="0" rIns="0" bIns="0">
            <a:spAutoFit/>
          </a:bodyPr>
          <a:lstStyle/>
          <a:p>
            <a:r>
              <a:rPr sz="1500" b="1">
                <a:solidFill>
                  <a:srgbClr val="F59E0B"/>
                </a:solidFill>
                <a:latin typeface="Segoe UI"/>
              </a:rPr>
              <a:t>What Differentiates It</a:t>
            </a:r>
          </a:p>
        </p:txBody>
      </p:sp>
      <p:sp>
        <p:nvSpPr>
          <p:cNvPr id="13" name="TextBox 12"/>
          <p:cNvSpPr txBox="1"/>
          <p:nvPr/>
        </p:nvSpPr>
        <p:spPr>
          <a:xfrm>
            <a:off x="8275320" y="2286000"/>
            <a:ext cx="2944368" cy="3977640"/>
          </a:xfrm>
          <a:prstGeom prst="rect">
            <a:avLst/>
          </a:prstGeom>
          <a:noFill/>
        </p:spPr>
        <p:txBody>
          <a:bodyPr wrap="square" lIns="0" tIns="0" rIns="0" bIns="0">
            <a:spAutoFit/>
          </a:bodyPr>
          <a:lstStyle/>
          <a:p>
            <a:r>
              <a:rPr sz="1100" b="1">
                <a:solidFill>
                  <a:srgbClr val="F59E0B"/>
                </a:solidFill>
                <a:latin typeface="Segoe UI"/>
              </a:rPr>
              <a:t>• Executable Reproduction vs Text Only
</a:t>
            </a:r>
            <a:r>
              <a:rPr sz="1050">
                <a:solidFill>
                  <a:srgbClr val="FFFFFF"/>
                </a:solidFill>
                <a:latin typeface="Segoe UI"/>
              </a:rPr>
              <a:t>Traditional AI tools merely summarize tickets. BugTriage.ai actually writes code and drives a real headless browser to prove the bug.</a:t>
            </a:r>
          </a:p>
          <a:p>
            <a:pPr>
              <a:spcBef>
                <a:spcPts val="800"/>
              </a:spcBef>
            </a:pPr>
            <a:r>
              <a:rPr sz="1100" b="1">
                <a:solidFill>
                  <a:srgbClr val="F59E0B"/>
                </a:solidFill>
                <a:latin typeface="Segoe UI"/>
              </a:rPr>
              <a:t>• Semantic vs Keyword Deduplication
</a:t>
            </a:r>
            <a:r>
              <a:rPr sz="1050">
                <a:solidFill>
                  <a:srgbClr val="FFFFFF"/>
                </a:solidFill>
                <a:latin typeface="Segoe UI"/>
              </a:rPr>
              <a:t>Matches conceptually identical bugs regardless of wording ('OAuth popup hangs' matches 'Google SSO infinite spinner').</a:t>
            </a:r>
          </a:p>
          <a:p>
            <a:pPr>
              <a:spcBef>
                <a:spcPts val="800"/>
              </a:spcBef>
            </a:pPr>
            <a:r>
              <a:rPr sz="1100" b="1">
                <a:solidFill>
                  <a:srgbClr val="F59E0B"/>
                </a:solidFill>
                <a:latin typeface="Segoe UI"/>
              </a:rPr>
              <a:t>• Active Clarification Loop
</a:t>
            </a:r>
            <a:r>
              <a:rPr sz="1050">
                <a:solidFill>
                  <a:srgbClr val="FFFFFF"/>
                </a:solidFill>
                <a:latin typeface="Segoe UI"/>
              </a:rPr>
              <a:t>Refuses to guess missing information; pauses execution to query the reporter interactively in real time.</a:t>
            </a:r>
          </a:p>
          <a:p>
            <a:pPr>
              <a:spcBef>
                <a:spcPts val="800"/>
              </a:spcBef>
            </a:pPr>
            <a:r>
              <a:rPr sz="1100" b="1">
                <a:solidFill>
                  <a:srgbClr val="F59E0B"/>
                </a:solidFill>
                <a:latin typeface="Segoe UI"/>
              </a:rPr>
              <a:t>• Enterprise Observability
</a:t>
            </a:r>
            <a:r>
              <a:rPr sz="1050">
                <a:solidFill>
                  <a:srgbClr val="FFFFFF"/>
                </a:solidFill>
                <a:latin typeface="Segoe UI"/>
              </a:rPr>
              <a:t>Complete developer feedback loop rating accuracy and full telemetry logs stored permanently in the database.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0040"/>
          </a:xfrm>
          <a:prstGeom prst="roundRect">
            <a:avLst/>
          </a:prstGeom>
          <a:solidFill>
            <a:srgbClr val="141B2D"/>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3B82F6"/>
                </a:solidFill>
                <a:latin typeface="Segoe UI"/>
              </a:rPr>
              <a:t>SLIDE 05 • REAL-WORLD FEASIBILITY &amp; METRICS</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r>
              <a:rPr sz="2600" b="1">
                <a:solidFill>
                  <a:srgbClr val="FFFFFF"/>
                </a:solidFill>
                <a:latin typeface="Segoe UI"/>
              </a:rPr>
              <a:t>Deployment, Scalability, Cost &amp; Measurable Outcomes</a:t>
            </a:r>
          </a:p>
          <a:p>
            <a:pPr>
              <a:spcBef>
                <a:spcPts val="400"/>
              </a:spcBef>
            </a:pPr>
            <a:r>
              <a:rPr sz="1300">
                <a:solidFill>
                  <a:srgbClr val="9CA3AF"/>
                </a:solidFill>
                <a:latin typeface="Segoe UI"/>
              </a:rPr>
              <a:t>Engineered for turnkey enterprise adoption with high ROI and minimal operational friction.</a:t>
            </a:r>
          </a:p>
        </p:txBody>
      </p:sp>
      <p:sp>
        <p:nvSpPr>
          <p:cNvPr id="5" name="Rounded Rectangle 4"/>
          <p:cNvSpPr/>
          <p:nvPr/>
        </p:nvSpPr>
        <p:spPr>
          <a:xfrm>
            <a:off x="731520" y="1691640"/>
            <a:ext cx="3401568" cy="2194560"/>
          </a:xfrm>
          <a:prstGeom prst="roundRect">
            <a:avLst/>
          </a:prstGeom>
          <a:solidFill>
            <a:srgbClr val="141B2D"/>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56232"/>
            <a:ext cx="3035808" cy="411480"/>
          </a:xfrm>
          <a:prstGeom prst="rect">
            <a:avLst/>
          </a:prstGeom>
          <a:noFill/>
        </p:spPr>
        <p:txBody>
          <a:bodyPr wrap="square" lIns="0" tIns="0" rIns="0" bIns="0">
            <a:spAutoFit/>
          </a:bodyPr>
          <a:lstStyle/>
          <a:p>
            <a:r>
              <a:rPr sz="1500" b="1">
                <a:solidFill>
                  <a:srgbClr val="06B6D4"/>
                </a:solidFill>
                <a:latin typeface="Segoe UI"/>
              </a:rPr>
              <a:t>Turnkey Deployment</a:t>
            </a:r>
          </a:p>
        </p:txBody>
      </p:sp>
      <p:sp>
        <p:nvSpPr>
          <p:cNvPr id="7" name="TextBox 6"/>
          <p:cNvSpPr txBox="1"/>
          <p:nvPr/>
        </p:nvSpPr>
        <p:spPr>
          <a:xfrm>
            <a:off x="914400" y="2194560"/>
            <a:ext cx="3035808" cy="1600200"/>
          </a:xfrm>
          <a:prstGeom prst="rect">
            <a:avLst/>
          </a:prstGeom>
          <a:noFill/>
        </p:spPr>
        <p:txBody>
          <a:bodyPr wrap="square" lIns="0" tIns="0" rIns="0" bIns="0">
            <a:spAutoFit/>
          </a:bodyPr>
          <a:lstStyle/>
          <a:p>
            <a:r>
              <a:rPr sz="1050">
                <a:solidFill>
                  <a:srgbClr val="FFFFFF"/>
                </a:solidFill>
                <a:latin typeface="Segoe UI"/>
              </a:rPr>
              <a:t>• Full Docker &amp; Docker Compose setup across frontend, backend, PostgreSQL, and ChromaDB.</a:t>
            </a:r>
          </a:p>
          <a:p>
            <a:pPr>
              <a:spcBef>
                <a:spcPts val="400"/>
              </a:spcBef>
            </a:pPr>
            <a:r>
              <a:rPr sz="1050">
                <a:solidFill>
                  <a:srgbClr val="FFFFFF"/>
                </a:solidFill>
                <a:latin typeface="Segoe UI"/>
              </a:rPr>
              <a:t>• Cloud-ready for AWS ECS/EKS, GCP Cloud Run, or on-prem Kubernetes clusters.</a:t>
            </a:r>
          </a:p>
          <a:p>
            <a:pPr>
              <a:spcBef>
                <a:spcPts val="400"/>
              </a:spcBef>
            </a:pPr>
            <a:r>
              <a:rPr sz="1050">
                <a:solidFill>
                  <a:srgbClr val="FFFFFF"/>
                </a:solidFill>
                <a:latin typeface="Segoe UI"/>
              </a:rPr>
              <a:t>• Zero external DB dependencies required for local testing (supports SQLite fallback).</a:t>
            </a:r>
          </a:p>
        </p:txBody>
      </p:sp>
      <p:sp>
        <p:nvSpPr>
          <p:cNvPr id="8" name="Rounded Rectangle 7"/>
          <p:cNvSpPr/>
          <p:nvPr/>
        </p:nvSpPr>
        <p:spPr>
          <a:xfrm>
            <a:off x="4389120" y="1691640"/>
            <a:ext cx="3401568" cy="2194560"/>
          </a:xfrm>
          <a:prstGeom prst="roundRect">
            <a:avLst/>
          </a:prstGeom>
          <a:solidFill>
            <a:srgbClr val="141B2D"/>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56232"/>
            <a:ext cx="3035808" cy="411480"/>
          </a:xfrm>
          <a:prstGeom prst="rect">
            <a:avLst/>
          </a:prstGeom>
          <a:noFill/>
        </p:spPr>
        <p:txBody>
          <a:bodyPr wrap="square" lIns="0" tIns="0" rIns="0" bIns="0">
            <a:spAutoFit/>
          </a:bodyPr>
          <a:lstStyle/>
          <a:p>
            <a:r>
              <a:rPr sz="1500" b="1">
                <a:solidFill>
                  <a:srgbClr val="3B82F6"/>
                </a:solidFill>
                <a:latin typeface="Segoe UI"/>
              </a:rPr>
              <a:t>Infinite Scalability</a:t>
            </a:r>
          </a:p>
        </p:txBody>
      </p:sp>
      <p:sp>
        <p:nvSpPr>
          <p:cNvPr id="10" name="TextBox 9"/>
          <p:cNvSpPr txBox="1"/>
          <p:nvPr/>
        </p:nvSpPr>
        <p:spPr>
          <a:xfrm>
            <a:off x="4572000" y="2194560"/>
            <a:ext cx="3035808" cy="1600200"/>
          </a:xfrm>
          <a:prstGeom prst="rect">
            <a:avLst/>
          </a:prstGeom>
          <a:noFill/>
        </p:spPr>
        <p:txBody>
          <a:bodyPr wrap="square" lIns="0" tIns="0" rIns="0" bIns="0">
            <a:spAutoFit/>
          </a:bodyPr>
          <a:lstStyle/>
          <a:p>
            <a:r>
              <a:rPr sz="1050">
                <a:solidFill>
                  <a:srgbClr val="FFFFFF"/>
                </a:solidFill>
                <a:latin typeface="Segoe UI"/>
              </a:rPr>
              <a:t>• Stateless FastAPI worker pods scale horizontally behind Nginx load balancers.</a:t>
            </a:r>
          </a:p>
          <a:p>
            <a:pPr>
              <a:spcBef>
                <a:spcPts val="400"/>
              </a:spcBef>
            </a:pPr>
            <a:r>
              <a:rPr sz="1050">
                <a:solidFill>
                  <a:srgbClr val="FFFFFF"/>
                </a:solidFill>
                <a:latin typeface="Segoe UI"/>
              </a:rPr>
              <a:t>• ChromaDB vector collections partitioned by repository, organization, or domain.</a:t>
            </a:r>
          </a:p>
          <a:p>
            <a:pPr>
              <a:spcBef>
                <a:spcPts val="400"/>
              </a:spcBef>
            </a:pPr>
            <a:r>
              <a:rPr sz="1050">
                <a:solidFill>
                  <a:srgbClr val="FFFFFF"/>
                </a:solidFill>
                <a:latin typeface="Segoe UI"/>
              </a:rPr>
              <a:t>• Celery/Redis worker queues isolate headless browser automation runs.</a:t>
            </a:r>
          </a:p>
        </p:txBody>
      </p:sp>
      <p:sp>
        <p:nvSpPr>
          <p:cNvPr id="11" name="Rounded Rectangle 10"/>
          <p:cNvSpPr/>
          <p:nvPr/>
        </p:nvSpPr>
        <p:spPr>
          <a:xfrm>
            <a:off x="8046720" y="1691640"/>
            <a:ext cx="3401568" cy="2194560"/>
          </a:xfrm>
          <a:prstGeom prst="roundRect">
            <a:avLst/>
          </a:prstGeom>
          <a:solidFill>
            <a:srgbClr val="141B2D"/>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856232"/>
            <a:ext cx="3035808" cy="411480"/>
          </a:xfrm>
          <a:prstGeom prst="rect">
            <a:avLst/>
          </a:prstGeom>
          <a:noFill/>
        </p:spPr>
        <p:txBody>
          <a:bodyPr wrap="square" lIns="0" tIns="0" rIns="0" bIns="0">
            <a:spAutoFit/>
          </a:bodyPr>
          <a:lstStyle/>
          <a:p>
            <a:r>
              <a:rPr sz="1500" b="1">
                <a:solidFill>
                  <a:srgbClr val="10B981"/>
                </a:solidFill>
                <a:latin typeface="Segoe UI"/>
              </a:rPr>
              <a:t>Cost &amp; Resource Efficiency</a:t>
            </a:r>
          </a:p>
        </p:txBody>
      </p:sp>
      <p:sp>
        <p:nvSpPr>
          <p:cNvPr id="13" name="TextBox 12"/>
          <p:cNvSpPr txBox="1"/>
          <p:nvPr/>
        </p:nvSpPr>
        <p:spPr>
          <a:xfrm>
            <a:off x="8229600" y="2194560"/>
            <a:ext cx="3035808" cy="1600200"/>
          </a:xfrm>
          <a:prstGeom prst="rect">
            <a:avLst/>
          </a:prstGeom>
          <a:noFill/>
        </p:spPr>
        <p:txBody>
          <a:bodyPr wrap="square" lIns="0" tIns="0" rIns="0" bIns="0">
            <a:spAutoFit/>
          </a:bodyPr>
          <a:lstStyle/>
          <a:p>
            <a:r>
              <a:rPr sz="1050">
                <a:solidFill>
                  <a:srgbClr val="FFFFFF"/>
                </a:solidFill>
                <a:latin typeface="Segoe UI"/>
              </a:rPr>
              <a:t>• Ultra-lean inference: Free local embeddings (`all-MiniLM-L6-v2`) + Groq LPU (&lt;$0.002 per triage).</a:t>
            </a:r>
          </a:p>
          <a:p>
            <a:pPr>
              <a:spcBef>
                <a:spcPts val="400"/>
              </a:spcBef>
            </a:pPr>
            <a:r>
              <a:rPr sz="1050">
                <a:solidFill>
                  <a:srgbClr val="FFFFFF"/>
                </a:solidFill>
                <a:latin typeface="Segoe UI"/>
              </a:rPr>
              <a:t>• Lightweight baseline footprint: Runs comfortably on 2 vCPUs and 4GB RAM.</a:t>
            </a:r>
          </a:p>
          <a:p>
            <a:pPr>
              <a:spcBef>
                <a:spcPts val="400"/>
              </a:spcBef>
            </a:pPr>
            <a:r>
              <a:rPr sz="1050">
                <a:solidFill>
                  <a:srgbClr val="FFFFFF"/>
                </a:solidFill>
                <a:latin typeface="Segoe UI"/>
              </a:rPr>
              <a:t>• Deterministic fallback mode enables 100% offline evaluation without API bills.</a:t>
            </a:r>
          </a:p>
        </p:txBody>
      </p:sp>
      <p:sp>
        <p:nvSpPr>
          <p:cNvPr id="14" name="Rounded Rectangle 13"/>
          <p:cNvSpPr/>
          <p:nvPr/>
        </p:nvSpPr>
        <p:spPr>
          <a:xfrm>
            <a:off x="731520" y="4069080"/>
            <a:ext cx="4572000" cy="2331720"/>
          </a:xfrm>
          <a:prstGeom prst="roundRect">
            <a:avLst/>
          </a:prstGeom>
          <a:solidFill>
            <a:srgbClr val="141B2D"/>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233672"/>
            <a:ext cx="4206240" cy="411480"/>
          </a:xfrm>
          <a:prstGeom prst="rect">
            <a:avLst/>
          </a:prstGeom>
          <a:noFill/>
        </p:spPr>
        <p:txBody>
          <a:bodyPr wrap="square" lIns="0" tIns="0" rIns="0" bIns="0">
            <a:spAutoFit/>
          </a:bodyPr>
          <a:lstStyle/>
          <a:p>
            <a:r>
              <a:rPr sz="1500" b="1">
                <a:solidFill>
                  <a:srgbClr val="8B5CF6"/>
                </a:solidFill>
                <a:latin typeface="Segoe UI"/>
              </a:rPr>
              <a:t>Practical Adoption &amp; Integration</a:t>
            </a:r>
          </a:p>
        </p:txBody>
      </p:sp>
      <p:sp>
        <p:nvSpPr>
          <p:cNvPr id="16" name="TextBox 15"/>
          <p:cNvSpPr txBox="1"/>
          <p:nvPr/>
        </p:nvSpPr>
        <p:spPr>
          <a:xfrm>
            <a:off x="914400" y="4572000"/>
            <a:ext cx="4206240" cy="1737360"/>
          </a:xfrm>
          <a:prstGeom prst="rect">
            <a:avLst/>
          </a:prstGeom>
          <a:noFill/>
        </p:spPr>
        <p:txBody>
          <a:bodyPr wrap="square" lIns="0" tIns="0" rIns="0" bIns="0">
            <a:spAutoFit/>
          </a:bodyPr>
          <a:lstStyle/>
          <a:p>
            <a:r>
              <a:rPr sz="1050" b="1">
                <a:solidFill>
                  <a:srgbClr val="8B5CF6"/>
                </a:solidFill>
                <a:latin typeface="Segoe UI"/>
              </a:rPr>
              <a:t>• Jira &amp; GitHub Sync: </a:t>
            </a:r>
            <a:r>
              <a:rPr sz="1000">
                <a:solidFill>
                  <a:srgbClr val="FFFFFF"/>
                </a:solidFill>
                <a:latin typeface="Segoe UI"/>
              </a:rPr>
              <a:t>Bi-directional webhooks automatically ingest issues and post formatted triage evidence back to existing issue trackers.</a:t>
            </a:r>
          </a:p>
          <a:p>
            <a:pPr>
              <a:spcBef>
                <a:spcPts val="500"/>
              </a:spcBef>
            </a:pPr>
            <a:r>
              <a:rPr sz="1050" b="1">
                <a:solidFill>
                  <a:srgbClr val="8B5CF6"/>
                </a:solidFill>
                <a:latin typeface="Segoe UI"/>
              </a:rPr>
              <a:t>• Low Friction Onboarding: </a:t>
            </a:r>
            <a:r>
              <a:rPr sz="1000">
                <a:solidFill>
                  <a:srgbClr val="FFFFFF"/>
                </a:solidFill>
                <a:latin typeface="Segoe UI"/>
              </a:rPr>
              <a:t>Engineers don't need new tools; they receive pre-reproduced tickets directly in Slack, Linear, or Jira.</a:t>
            </a:r>
          </a:p>
          <a:p>
            <a:pPr>
              <a:spcBef>
                <a:spcPts val="500"/>
              </a:spcBef>
            </a:pPr>
            <a:r>
              <a:rPr sz="1050" b="1">
                <a:solidFill>
                  <a:srgbClr val="8B5CF6"/>
                </a:solidFill>
                <a:latin typeface="Segoe UI"/>
              </a:rPr>
              <a:t>• Advisory Mode: </a:t>
            </a:r>
            <a:r>
              <a:rPr sz="1000">
                <a:solidFill>
                  <a:srgbClr val="FFFFFF"/>
                </a:solidFill>
                <a:latin typeface="Segoe UI"/>
              </a:rPr>
              <a:t>Teams can run BugTriage.ai in 'co-pilot / advisory mode' with human developer ratings before enabling full automated assignment.</a:t>
            </a:r>
          </a:p>
        </p:txBody>
      </p:sp>
      <p:sp>
        <p:nvSpPr>
          <p:cNvPr id="17" name="Rounded Rectangle 16"/>
          <p:cNvSpPr/>
          <p:nvPr/>
        </p:nvSpPr>
        <p:spPr>
          <a:xfrm>
            <a:off x="5559552" y="4069080"/>
            <a:ext cx="5897880" cy="2331720"/>
          </a:xfrm>
          <a:prstGeom prst="roundRect">
            <a:avLst/>
          </a:prstGeom>
          <a:solidFill>
            <a:srgbClr val="141B2D"/>
          </a:solidFill>
          <a:ln w="1524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42432" y="4233672"/>
            <a:ext cx="5532120" cy="411480"/>
          </a:xfrm>
          <a:prstGeom prst="rect">
            <a:avLst/>
          </a:prstGeom>
          <a:noFill/>
        </p:spPr>
        <p:txBody>
          <a:bodyPr wrap="square" lIns="0" tIns="0" rIns="0" bIns="0">
            <a:spAutoFit/>
          </a:bodyPr>
          <a:lstStyle/>
          <a:p>
            <a:r>
              <a:rPr sz="1500" b="1">
                <a:solidFill>
                  <a:srgbClr val="F59E0B"/>
                </a:solidFill>
                <a:latin typeface="Segoe UI"/>
              </a:rPr>
              <a:t>Expected Measurable Outcomes</a:t>
            </a:r>
          </a:p>
        </p:txBody>
      </p:sp>
      <p:sp>
        <p:nvSpPr>
          <p:cNvPr id="19" name="TextBox 18"/>
          <p:cNvSpPr txBox="1"/>
          <p:nvPr/>
        </p:nvSpPr>
        <p:spPr>
          <a:xfrm>
            <a:off x="5742432" y="4572000"/>
            <a:ext cx="5532120" cy="1737360"/>
          </a:xfrm>
          <a:prstGeom prst="rect">
            <a:avLst/>
          </a:prstGeom>
          <a:noFill/>
        </p:spPr>
        <p:txBody>
          <a:bodyPr wrap="square" lIns="0" tIns="0" rIns="0" bIns="0">
            <a:spAutoFit/>
          </a:bodyPr>
          <a:lstStyle/>
          <a:p>
            <a:r>
              <a:rPr sz="1050" b="1">
                <a:solidFill>
                  <a:srgbClr val="10B981"/>
                </a:solidFill>
                <a:latin typeface="Segoe UI"/>
              </a:rPr>
              <a:t>✓ 85% Reduction in Triage Time: </a:t>
            </a:r>
            <a:r>
              <a:rPr sz="1000">
                <a:solidFill>
                  <a:srgbClr val="FFFFFF"/>
                </a:solidFill>
                <a:latin typeface="Segoe UI"/>
              </a:rPr>
              <a:t>From 4+ hours of manual back-and-forth down to &lt; 45 seconds autonomous execution.</a:t>
            </a:r>
          </a:p>
          <a:p>
            <a:pPr>
              <a:spcBef>
                <a:spcPts val="500"/>
              </a:spcBef>
            </a:pPr>
            <a:r>
              <a:rPr sz="1050" b="1">
                <a:solidFill>
                  <a:srgbClr val="10B981"/>
                </a:solidFill>
                <a:latin typeface="Segoe UI"/>
              </a:rPr>
              <a:t>✓ 90%+ Duplicate Detection Accuracy: </a:t>
            </a:r>
            <a:r>
              <a:rPr sz="1000">
                <a:solidFill>
                  <a:srgbClr val="FFFFFF"/>
                </a:solidFill>
                <a:latin typeface="Segoe UI"/>
              </a:rPr>
              <a:t>Stops backlog bloat and redundant developer investigations with vector similarity scoring.</a:t>
            </a:r>
          </a:p>
          <a:p>
            <a:pPr>
              <a:spcBef>
                <a:spcPts val="500"/>
              </a:spcBef>
            </a:pPr>
            <a:r>
              <a:rPr sz="1050" b="1">
                <a:solidFill>
                  <a:srgbClr val="10B981"/>
                </a:solidFill>
                <a:latin typeface="Segoe UI"/>
              </a:rPr>
              <a:t>✓ 70% Drop in 'Cannot Reproduce' Closures: </a:t>
            </a:r>
            <a:r>
              <a:rPr sz="1000">
                <a:solidFill>
                  <a:srgbClr val="FFFFFF"/>
                </a:solidFill>
                <a:latin typeface="Segoe UI"/>
              </a:rPr>
              <a:t>Mandatory completeness validation + synthesized Selenium test scripts ensure actionable reports.</a:t>
            </a:r>
          </a:p>
          <a:p>
            <a:pPr>
              <a:spcBef>
                <a:spcPts val="500"/>
              </a:spcBef>
            </a:pPr>
            <a:r>
              <a:rPr sz="1050" b="1">
                <a:solidFill>
                  <a:srgbClr val="10B981"/>
                </a:solidFill>
                <a:latin typeface="Segoe UI"/>
              </a:rPr>
              <a:t>✓ $50,000+ Annual Cost Savings Per Squad: </a:t>
            </a:r>
            <a:r>
              <a:rPr sz="1000">
                <a:solidFill>
                  <a:srgbClr val="FFFFFF"/>
                </a:solidFill>
                <a:latin typeface="Segoe UI"/>
              </a:rPr>
              <a:t>Reclaims ~10 hours/week of senior engineering capacity for core roadmap features.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320040"/>
          </a:xfrm>
          <a:prstGeom prst="roundRect">
            <a:avLst/>
          </a:prstGeom>
          <a:solidFill>
            <a:srgbClr val="141B2D"/>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0B981"/>
                </a:solidFill>
                <a:latin typeface="Segoe UI"/>
              </a:rPr>
              <a:t>SLIDE 06 • LIVE TECHNICAL PROTOTYPE</a:t>
            </a:r>
          </a:p>
        </p:txBody>
      </p:sp>
      <p:sp>
        <p:nvSpPr>
          <p:cNvPr id="4" name="TextBox 3"/>
          <p:cNvSpPr txBox="1"/>
          <p:nvPr/>
        </p:nvSpPr>
        <p:spPr>
          <a:xfrm>
            <a:off x="731520" y="777240"/>
            <a:ext cx="10698480" cy="640080"/>
          </a:xfrm>
          <a:prstGeom prst="rect">
            <a:avLst/>
          </a:prstGeom>
          <a:noFill/>
        </p:spPr>
        <p:txBody>
          <a:bodyPr wrap="square" lIns="0" tIns="0" rIns="0" bIns="0">
            <a:spAutoFit/>
          </a:bodyPr>
          <a:lstStyle/>
          <a:p>
            <a:r>
              <a:rPr sz="2600" b="1">
                <a:solidFill>
                  <a:srgbClr val="FFFFFF"/>
                </a:solidFill>
                <a:latin typeface="Segoe UI"/>
              </a:rPr>
              <a:t>Technical Demonstration &amp; Working Prototype</a:t>
            </a:r>
          </a:p>
          <a:p>
            <a:pPr>
              <a:spcBef>
                <a:spcPts val="400"/>
              </a:spcBef>
            </a:pPr>
            <a:r>
              <a:rPr sz="1300">
                <a:solidFill>
                  <a:srgbClr val="9CA3AF"/>
                </a:solidFill>
                <a:latin typeface="Segoe UI"/>
              </a:rPr>
              <a:t>Live execution of the end-to-end multi-agent pipeline on localhost:3000.</a:t>
            </a:r>
          </a:p>
        </p:txBody>
      </p:sp>
      <p:sp>
        <p:nvSpPr>
          <p:cNvPr id="5" name="Rounded Rectangle 4"/>
          <p:cNvSpPr/>
          <p:nvPr/>
        </p:nvSpPr>
        <p:spPr>
          <a:xfrm>
            <a:off x="731520" y="1691640"/>
            <a:ext cx="10728655" cy="68580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0B0F19"/>
                </a:solidFill>
                <a:latin typeface="Segoe UI"/>
              </a:rPr>
              <a:t>► SWITCHING TO LIVE BROWSER PROTOTYPE (http://localhost:3000/demo)</a:t>
            </a:r>
          </a:p>
        </p:txBody>
      </p:sp>
      <p:sp>
        <p:nvSpPr>
          <p:cNvPr id="6" name="Rounded Rectangle 5"/>
          <p:cNvSpPr/>
          <p:nvPr/>
        </p:nvSpPr>
        <p:spPr>
          <a:xfrm>
            <a:off x="731520" y="2560320"/>
            <a:ext cx="2487168" cy="2468880"/>
          </a:xfrm>
          <a:prstGeom prst="roundRect">
            <a:avLst/>
          </a:prstGeom>
          <a:solidFill>
            <a:srgbClr val="141B2D"/>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697480"/>
            <a:ext cx="2157984" cy="2194560"/>
          </a:xfrm>
          <a:prstGeom prst="rect">
            <a:avLst/>
          </a:prstGeom>
          <a:noFill/>
        </p:spPr>
        <p:txBody>
          <a:bodyPr wrap="square" lIns="0" tIns="0" rIns="0" bIns="0">
            <a:spAutoFit/>
          </a:bodyPr>
          <a:lstStyle/>
          <a:p>
            <a:r>
              <a:rPr sz="1000" b="1">
                <a:solidFill>
                  <a:srgbClr val="3B82F6"/>
                </a:solidFill>
                <a:latin typeface="Segoe UI"/>
              </a:rPr>
              <a:t>SCENARIO 01</a:t>
            </a:r>
          </a:p>
          <a:p>
            <a:pPr>
              <a:spcBef>
                <a:spcPts val="400"/>
              </a:spcBef>
            </a:pPr>
            <a:r>
              <a:rPr sz="1400" b="1">
                <a:solidFill>
                  <a:srgbClr val="FFFFFF"/>
                </a:solidFill>
                <a:latin typeface="Segoe UI"/>
              </a:rPr>
              <a:t>Clarification Loop</a:t>
            </a:r>
          </a:p>
          <a:p>
            <a:pPr>
              <a:spcBef>
                <a:spcPts val="200"/>
              </a:spcBef>
            </a:pPr>
            <a:r>
              <a:rPr sz="950" b="1">
                <a:solidFill>
                  <a:srgbClr val="3B82F6"/>
                </a:solidFill>
                <a:latin typeface="Segoe UI"/>
              </a:rPr>
              <a:t>Interactive Chat Pause</a:t>
            </a:r>
          </a:p>
          <a:p>
            <a:pPr>
              <a:spcBef>
                <a:spcPts val="600"/>
              </a:spcBef>
            </a:pPr>
            <a:r>
              <a:rPr sz="950">
                <a:solidFill>
                  <a:srgbClr val="9CA3AF"/>
                </a:solidFill>
                <a:latin typeface="Segoe UI"/>
              </a:rPr>
              <a:t>Submit ambiguous report ('Login broken'). Triage Agent detects missing steps, halts pipeline with 'waiting_for_user', and launches clarification chat.</a:t>
            </a:r>
          </a:p>
        </p:txBody>
      </p:sp>
      <p:sp>
        <p:nvSpPr>
          <p:cNvPr id="8" name="Rounded Rectangle 7"/>
          <p:cNvSpPr/>
          <p:nvPr/>
        </p:nvSpPr>
        <p:spPr>
          <a:xfrm>
            <a:off x="3474720" y="2560320"/>
            <a:ext cx="2487168" cy="2468880"/>
          </a:xfrm>
          <a:prstGeom prst="roundRect">
            <a:avLst/>
          </a:prstGeom>
          <a:solidFill>
            <a:srgbClr val="141B2D"/>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9312" y="2697480"/>
            <a:ext cx="2157984" cy="2194560"/>
          </a:xfrm>
          <a:prstGeom prst="rect">
            <a:avLst/>
          </a:prstGeom>
          <a:noFill/>
        </p:spPr>
        <p:txBody>
          <a:bodyPr wrap="square" lIns="0" tIns="0" rIns="0" bIns="0">
            <a:spAutoFit/>
          </a:bodyPr>
          <a:lstStyle/>
          <a:p>
            <a:r>
              <a:rPr sz="1000" b="1">
                <a:solidFill>
                  <a:srgbClr val="06B6D4"/>
                </a:solidFill>
                <a:latin typeface="Segoe UI"/>
              </a:rPr>
              <a:t>SCENARIO 02</a:t>
            </a:r>
          </a:p>
          <a:p>
            <a:pPr>
              <a:spcBef>
                <a:spcPts val="400"/>
              </a:spcBef>
            </a:pPr>
            <a:r>
              <a:rPr sz="1400" b="1">
                <a:solidFill>
                  <a:srgbClr val="FFFFFF"/>
                </a:solidFill>
                <a:latin typeface="Segoe UI"/>
              </a:rPr>
              <a:t>Duplicate Detection</a:t>
            </a:r>
          </a:p>
          <a:p>
            <a:pPr>
              <a:spcBef>
                <a:spcPts val="200"/>
              </a:spcBef>
            </a:pPr>
            <a:r>
              <a:rPr sz="950" b="1">
                <a:solidFill>
                  <a:srgbClr val="06B6D4"/>
                </a:solidFill>
                <a:latin typeface="Segoe UI"/>
              </a:rPr>
              <a:t>ChromaDB Vector Match</a:t>
            </a:r>
          </a:p>
          <a:p>
            <a:pPr>
              <a:spcBef>
                <a:spcPts val="600"/>
              </a:spcBef>
            </a:pPr>
            <a:r>
              <a:rPr sz="950">
                <a:solidFill>
                  <a:srgbClr val="9CA3AF"/>
                </a:solidFill>
                <a:latin typeface="Segoe UI"/>
              </a:rPr>
              <a:t>Submit paraphrased Google OAuth bug. Intelligence Agent vectors match existing defect with &gt;85% cosine similarity and side-by-side diff.</a:t>
            </a:r>
          </a:p>
        </p:txBody>
      </p:sp>
      <p:sp>
        <p:nvSpPr>
          <p:cNvPr id="10" name="Rounded Rectangle 9"/>
          <p:cNvSpPr/>
          <p:nvPr/>
        </p:nvSpPr>
        <p:spPr>
          <a:xfrm>
            <a:off x="6217920" y="2560320"/>
            <a:ext cx="2487168" cy="2468880"/>
          </a:xfrm>
          <a:prstGeom prst="roundRect">
            <a:avLst/>
          </a:prstGeom>
          <a:solidFill>
            <a:srgbClr val="141B2D"/>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2697480"/>
            <a:ext cx="2157984" cy="2194560"/>
          </a:xfrm>
          <a:prstGeom prst="rect">
            <a:avLst/>
          </a:prstGeom>
          <a:noFill/>
        </p:spPr>
        <p:txBody>
          <a:bodyPr wrap="square" lIns="0" tIns="0" rIns="0" bIns="0">
            <a:spAutoFit/>
          </a:bodyPr>
          <a:lstStyle/>
          <a:p>
            <a:r>
              <a:rPr sz="1000" b="1">
                <a:solidFill>
                  <a:srgbClr val="8B5CF6"/>
                </a:solidFill>
                <a:latin typeface="Segoe UI"/>
              </a:rPr>
              <a:t>SCENARIO 03</a:t>
            </a:r>
          </a:p>
          <a:p>
            <a:pPr>
              <a:spcBef>
                <a:spcPts val="400"/>
              </a:spcBef>
            </a:pPr>
            <a:r>
              <a:rPr sz="1400" b="1">
                <a:solidFill>
                  <a:srgbClr val="FFFFFF"/>
                </a:solidFill>
                <a:latin typeface="Segoe UI"/>
              </a:rPr>
              <a:t>Headless Reproduction</a:t>
            </a:r>
          </a:p>
          <a:p>
            <a:pPr>
              <a:spcBef>
                <a:spcPts val="200"/>
              </a:spcBef>
            </a:pPr>
            <a:r>
              <a:rPr sz="950" b="1">
                <a:solidFill>
                  <a:srgbClr val="8B5CF6"/>
                </a:solidFill>
                <a:latin typeface="Segoe UI"/>
              </a:rPr>
              <a:t>Selenium 4 Script &amp; Proof</a:t>
            </a:r>
          </a:p>
          <a:p>
            <a:pPr>
              <a:spcBef>
                <a:spcPts val="600"/>
              </a:spcBef>
            </a:pPr>
            <a:r>
              <a:rPr sz="950">
                <a:solidFill>
                  <a:srgbClr val="9CA3AF"/>
                </a:solidFill>
                <a:latin typeface="Segoe UI"/>
              </a:rPr>
              <a:t>Submit avatar upload defect. Reproduction Agent generates Python Selenium script, executes headless, and renders DOM screenshot &amp; console logs.</a:t>
            </a:r>
          </a:p>
        </p:txBody>
      </p:sp>
      <p:sp>
        <p:nvSpPr>
          <p:cNvPr id="12" name="Rounded Rectangle 11"/>
          <p:cNvSpPr/>
          <p:nvPr/>
        </p:nvSpPr>
        <p:spPr>
          <a:xfrm>
            <a:off x="8961120" y="2560320"/>
            <a:ext cx="2487168" cy="2468880"/>
          </a:xfrm>
          <a:prstGeom prst="roundRect">
            <a:avLst/>
          </a:prstGeom>
          <a:solidFill>
            <a:srgbClr val="141B2D"/>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25712" y="2697480"/>
            <a:ext cx="2157984" cy="2194560"/>
          </a:xfrm>
          <a:prstGeom prst="rect">
            <a:avLst/>
          </a:prstGeom>
          <a:noFill/>
        </p:spPr>
        <p:txBody>
          <a:bodyPr wrap="square" lIns="0" tIns="0" rIns="0" bIns="0">
            <a:spAutoFit/>
          </a:bodyPr>
          <a:lstStyle/>
          <a:p>
            <a:r>
              <a:rPr sz="1000" b="1">
                <a:solidFill>
                  <a:srgbClr val="F59E0B"/>
                </a:solidFill>
                <a:latin typeface="Segoe UI"/>
              </a:rPr>
              <a:t>SCENARIO 04</a:t>
            </a:r>
          </a:p>
          <a:p>
            <a:pPr>
              <a:spcBef>
                <a:spcPts val="400"/>
              </a:spcBef>
            </a:pPr>
            <a:r>
              <a:rPr sz="1400" b="1">
                <a:solidFill>
                  <a:srgbClr val="FFFFFF"/>
                </a:solidFill>
                <a:latin typeface="Segoe UI"/>
              </a:rPr>
              <a:t>Full E2E Routing</a:t>
            </a:r>
          </a:p>
          <a:p>
            <a:pPr>
              <a:spcBef>
                <a:spcPts val="200"/>
              </a:spcBef>
            </a:pPr>
            <a:r>
              <a:rPr sz="950" b="1">
                <a:solidFill>
                  <a:srgbClr val="F59E0B"/>
                </a:solidFill>
                <a:latin typeface="Segoe UI"/>
              </a:rPr>
              <a:t>Regression &amp; Markdown Report</a:t>
            </a:r>
          </a:p>
          <a:p>
            <a:pPr>
              <a:spcBef>
                <a:spcPts val="600"/>
              </a:spcBef>
            </a:pPr>
            <a:r>
              <a:rPr sz="950">
                <a:solidFill>
                  <a:srgbClr val="9CA3AF"/>
                </a:solidFill>
                <a:latin typeface="Segoe UI"/>
              </a:rPr>
              <a:t>Submit checkout 500 error after release v2.4.1. Orchestrates all 4 agents via SSE, tags P0 priority, assigns Core Payments team, and outputs executive report.</a:t>
            </a:r>
          </a:p>
        </p:txBody>
      </p:sp>
      <p:sp>
        <p:nvSpPr>
          <p:cNvPr id="14" name="Rounded Rectangle 13"/>
          <p:cNvSpPr/>
          <p:nvPr/>
        </p:nvSpPr>
        <p:spPr>
          <a:xfrm>
            <a:off x="731520" y="5212080"/>
            <a:ext cx="10728655" cy="1188720"/>
          </a:xfrm>
          <a:prstGeom prst="roundRect">
            <a:avLst/>
          </a:prstGeom>
          <a:solidFill>
            <a:srgbClr val="141B2D"/>
          </a:solidFill>
          <a:ln w="12700">
            <a:solidFill>
              <a:srgbClr val="25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303520"/>
            <a:ext cx="10362895" cy="1005840"/>
          </a:xfrm>
          <a:prstGeom prst="rect">
            <a:avLst/>
          </a:prstGeom>
          <a:noFill/>
        </p:spPr>
        <p:txBody>
          <a:bodyPr wrap="square" lIns="0" tIns="0" rIns="0" bIns="0">
            <a:spAutoFit/>
          </a:bodyPr>
          <a:lstStyle/>
          <a:p>
            <a:r>
              <a:rPr sz="1100" b="1">
                <a:solidFill>
                  <a:srgbClr val="10B981"/>
                </a:solidFill>
                <a:latin typeface="Segoe UI"/>
              </a:rPr>
              <a:t>CORE USER JOURNEY &amp; KEY HIGHLIGHTS TO DEMONSTRATE:</a:t>
            </a:r>
          </a:p>
          <a:p>
            <a:pPr>
              <a:spcBef>
                <a:spcPts val="300"/>
              </a:spcBef>
            </a:pPr>
            <a:r>
              <a:rPr sz="1000">
                <a:solidFill>
                  <a:srgbClr val="FFFFFF"/>
                </a:solidFill>
                <a:latin typeface="Segoe UI"/>
              </a:rPr>
              <a:t>• 1. Ingestion &amp; SSE Live Progress Bar: Real-time multi-agent state progression with zero page reloads.</a:t>
            </a:r>
          </a:p>
          <a:p>
            <a:pPr>
              <a:spcBef>
                <a:spcPts val="300"/>
              </a:spcBef>
            </a:pPr>
            <a:r>
              <a:rPr sz="1000">
                <a:solidFill>
                  <a:srgbClr val="FFFFFF"/>
                </a:solidFill>
                <a:latin typeface="Segoe UI"/>
              </a:rPr>
              <a:t>• 2. Explainable AI Reasoning: Click any agent badge to inspect 'Agent Reasoning' explaining why it made each decision.</a:t>
            </a:r>
          </a:p>
          <a:p>
            <a:pPr>
              <a:spcBef>
                <a:spcPts val="300"/>
              </a:spcBef>
            </a:pPr>
            <a:r>
              <a:rPr sz="1000">
                <a:solidFill>
                  <a:srgbClr val="FFFFFF"/>
                </a:solidFill>
                <a:latin typeface="Segoe UI"/>
              </a:rPr>
              <a:t>• 3. Tangible Output: Live synthesized Selenium script, captured DOM evidence screenshot, and executive Markdown report ready for developer assignment.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